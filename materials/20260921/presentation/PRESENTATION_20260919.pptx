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6d780a71b64a66" /><Relationship Type="http://schemas.openxmlformats.org/officeDocument/2006/relationships/extended-properties" Target="/docProps/app.xml" Id="Rc14d1851820c47c5" /><Relationship Type="http://schemas.openxmlformats.org/officeDocument/2006/relationships/officeDocument" Target="/ppt/presentation.xml" Id="Rdd89c92ebed34a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a5ca1d22f045c1"/>
  </p:sldMasterIdLst>
  <p:notesMasterIdLst>
    <p:notesMasterId xmlns:r="http://schemas.openxmlformats.org/officeDocument/2006/relationships" r:id="R09725ac129a049d7"/>
  </p:notesMasterIdLst>
  <p:sldIdLst>
    <p:sldId xmlns:r="http://schemas.openxmlformats.org/officeDocument/2006/relationships" id="256" r:id="R1e74bac8528e4fa3"/>
    <p:sldId xmlns:r="http://schemas.openxmlformats.org/officeDocument/2006/relationships" id="257" r:id="R81957147e16f4c7a"/>
    <p:sldId xmlns:r="http://schemas.openxmlformats.org/officeDocument/2006/relationships" id="258" r:id="R9b4f9973123e44e0"/>
    <p:sldId xmlns:r="http://schemas.openxmlformats.org/officeDocument/2006/relationships" id="259" r:id="R4a11003f36a7413c"/>
    <p:sldId xmlns:r="http://schemas.openxmlformats.org/officeDocument/2006/relationships" id="260" r:id="Re1d4aa96d1104b50"/>
    <p:sldId xmlns:r="http://schemas.openxmlformats.org/officeDocument/2006/relationships" id="261" r:id="Re308498f29224479"/>
    <p:sldId xmlns:r="http://schemas.openxmlformats.org/officeDocument/2006/relationships" id="262" r:id="R1943b9549bda4ee4"/>
    <p:sldId xmlns:r="http://schemas.openxmlformats.org/officeDocument/2006/relationships" id="263" r:id="Rfef1436d2f684130"/>
    <p:sldId xmlns:r="http://schemas.openxmlformats.org/officeDocument/2006/relationships" id="264" r:id="R13beee4865d24cb5"/>
    <p:sldId xmlns:r="http://schemas.openxmlformats.org/officeDocument/2006/relationships" id="265" r:id="Re00ad5dfd4d24ff6"/>
    <p:sldId xmlns:r="http://schemas.openxmlformats.org/officeDocument/2006/relationships" id="266" r:id="R1af50af2006146d8"/>
    <p:sldId xmlns:r="http://schemas.openxmlformats.org/officeDocument/2006/relationships" id="267" r:id="R32ec25469497423f"/>
    <p:sldId xmlns:r="http://schemas.openxmlformats.org/officeDocument/2006/relationships" id="268" r:id="R27ffdba1f6c84cef"/>
    <p:sldId xmlns:r="http://schemas.openxmlformats.org/officeDocument/2006/relationships" id="269" r:id="R0614a6498cc44522"/>
    <p:sldId xmlns:r="http://schemas.openxmlformats.org/officeDocument/2006/relationships" id="270" r:id="Re0dc22a9e0664878"/>
    <p:sldId xmlns:r="http://schemas.openxmlformats.org/officeDocument/2006/relationships" id="271" r:id="R3c023a5b5a3447d7"/>
    <p:sldId xmlns:r="http://schemas.openxmlformats.org/officeDocument/2006/relationships" id="272" r:id="R1fbb6837d8454b1b"/>
    <p:sldId xmlns:r="http://schemas.openxmlformats.org/officeDocument/2006/relationships" id="273" r:id="R496fe1ca854049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38cda440be4081" /><Relationship Type="http://schemas.openxmlformats.org/officeDocument/2006/relationships/slideMaster" Target="/ppt/slideMasters/slideMaster1.xml" Id="Raaa5ca1d22f045c1" /><Relationship Type="http://schemas.openxmlformats.org/officeDocument/2006/relationships/notesMaster" Target="/ppt/notesMasters/notesMaster1.xml" Id="R09725ac129a049d7" /><Relationship Type="http://schemas.openxmlformats.org/officeDocument/2006/relationships/presProps" Target="/ppt/presProps.xml" Id="R03bfd538813f4b5d" /><Relationship Type="http://schemas.openxmlformats.org/officeDocument/2006/relationships/tableStyles" Target="/ppt/tableStyles.xml" Id="Rb499739e048745f3" /><Relationship Type="http://schemas.openxmlformats.org/officeDocument/2006/relationships/slide" Target="/ppt/slides/slide1.xml" Id="R1e74bac8528e4fa3" /><Relationship Type="http://schemas.openxmlformats.org/officeDocument/2006/relationships/slide" Target="/ppt/slides/slide2.xml" Id="R81957147e16f4c7a" /><Relationship Type="http://schemas.openxmlformats.org/officeDocument/2006/relationships/slide" Target="/ppt/slides/slide3.xml" Id="R9b4f9973123e44e0" /><Relationship Type="http://schemas.openxmlformats.org/officeDocument/2006/relationships/slide" Target="/ppt/slides/slide4.xml" Id="R4a11003f36a7413c" /><Relationship Type="http://schemas.openxmlformats.org/officeDocument/2006/relationships/slide" Target="/ppt/slides/slide5.xml" Id="Re1d4aa96d1104b50" /><Relationship Type="http://schemas.openxmlformats.org/officeDocument/2006/relationships/slide" Target="/ppt/slides/slide6.xml" Id="Re308498f29224479" /><Relationship Type="http://schemas.openxmlformats.org/officeDocument/2006/relationships/slide" Target="/ppt/slides/slide7.xml" Id="R1943b9549bda4ee4" /><Relationship Type="http://schemas.openxmlformats.org/officeDocument/2006/relationships/slide" Target="/ppt/slides/slide8.xml" Id="Rfef1436d2f684130" /><Relationship Type="http://schemas.openxmlformats.org/officeDocument/2006/relationships/slide" Target="/ppt/slides/slide9.xml" Id="R13beee4865d24cb5" /><Relationship Type="http://schemas.openxmlformats.org/officeDocument/2006/relationships/slide" Target="/ppt/slides/slide10.xml" Id="Re00ad5dfd4d24ff6" /><Relationship Type="http://schemas.openxmlformats.org/officeDocument/2006/relationships/slide" Target="/ppt/slides/slide11.xml" Id="R1af50af2006146d8" /><Relationship Type="http://schemas.openxmlformats.org/officeDocument/2006/relationships/slide" Target="/ppt/slides/slide12.xml" Id="R32ec25469497423f" /><Relationship Type="http://schemas.openxmlformats.org/officeDocument/2006/relationships/slide" Target="/ppt/slides/slide13.xml" Id="R27ffdba1f6c84cef" /><Relationship Type="http://schemas.openxmlformats.org/officeDocument/2006/relationships/slide" Target="/ppt/slides/slide14.xml" Id="R0614a6498cc44522" /><Relationship Type="http://schemas.openxmlformats.org/officeDocument/2006/relationships/slide" Target="/ppt/slides/slide15.xml" Id="Re0dc22a9e0664878" /><Relationship Type="http://schemas.openxmlformats.org/officeDocument/2006/relationships/slide" Target="/ppt/slides/slide16.xml" Id="R3c023a5b5a3447d7" /><Relationship Type="http://schemas.openxmlformats.org/officeDocument/2006/relationships/slide" Target="/ppt/slides/slide17.xml" Id="R1fbb6837d8454b1b" /><Relationship Type="http://schemas.openxmlformats.org/officeDocument/2006/relationships/slide" Target="/ppt/slides/slide18.xml" Id="R496fe1ca854049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210c65d41646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45a0bdfa8f41ec" /><Relationship Type="http://schemas.openxmlformats.org/officeDocument/2006/relationships/notesMaster" Target="/ppt/notesMasters/notesMaster1.xml" Id="R3a76d4a235054c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863b6981b6442f" /><Relationship Type="http://schemas.openxmlformats.org/officeDocument/2006/relationships/notesMaster" Target="/ppt/notesMasters/notesMaster1.xml" Id="R8c04e30b60ee40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f0bf8413a14abe" /><Relationship Type="http://schemas.openxmlformats.org/officeDocument/2006/relationships/notesMaster" Target="/ppt/notesMasters/notesMaster1.xml" Id="R7f57caad126240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ae0d228f6046c4" /><Relationship Type="http://schemas.openxmlformats.org/officeDocument/2006/relationships/notesMaster" Target="/ppt/notesMasters/notesMaster1.xml" Id="R90097c45562e45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10997f4bdf4997" /><Relationship Type="http://schemas.openxmlformats.org/officeDocument/2006/relationships/notesMaster" Target="/ppt/notesMasters/notesMaster1.xml" Id="R9957f595b29747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7da70126584954" /><Relationship Type="http://schemas.openxmlformats.org/officeDocument/2006/relationships/notesMaster" Target="/ppt/notesMasters/notesMaster1.xml" Id="Rd3b1f41f774548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c4ebb6c00c47ca" /><Relationship Type="http://schemas.openxmlformats.org/officeDocument/2006/relationships/notesMaster" Target="/ppt/notesMasters/notesMaster1.xml" Id="R4e8ffb2b865847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f0f0ab67dc481c" /><Relationship Type="http://schemas.openxmlformats.org/officeDocument/2006/relationships/notesMaster" Target="/ppt/notesMasters/notesMaster1.xml" Id="Rf079487a917f40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c8bdecb7644c6e" /><Relationship Type="http://schemas.openxmlformats.org/officeDocument/2006/relationships/notesMaster" Target="/ppt/notesMasters/notesMaster1.xml" Id="R7258e14d23c344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db257dc4f5409f" /><Relationship Type="http://schemas.openxmlformats.org/officeDocument/2006/relationships/notesMaster" Target="/ppt/notesMasters/notesMaster1.xml" Id="R26feee8fc25242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a93089e5e084f4a" /><Relationship Type="http://schemas.openxmlformats.org/officeDocument/2006/relationships/notesMaster" Target="/ppt/notesMasters/notesMaster1.xml" Id="R9b5f3373097a45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8eaabc38e84938" /><Relationship Type="http://schemas.openxmlformats.org/officeDocument/2006/relationships/notesMaster" Target="/ppt/notesMasters/notesMaster1.xml" Id="Rbc50797073b44e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83d282903d4bf2" /><Relationship Type="http://schemas.openxmlformats.org/officeDocument/2006/relationships/notesMaster" Target="/ppt/notesMasters/notesMaster1.xml" Id="R803646bf7e5f4f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54d26d17364a07" /><Relationship Type="http://schemas.openxmlformats.org/officeDocument/2006/relationships/notesMaster" Target="/ppt/notesMasters/notesMaster1.xml" Id="R7f7417cae77e48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07b780080f4f56" /><Relationship Type="http://schemas.openxmlformats.org/officeDocument/2006/relationships/notesMaster" Target="/ppt/notesMasters/notesMaster1.xml" Id="R9e3133abd20e4f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23f0ca7cd7d46ee" /><Relationship Type="http://schemas.openxmlformats.org/officeDocument/2006/relationships/notesMaster" Target="/ppt/notesMasters/notesMaster1.xml" Id="Ra25c8e8a5904460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90e4efea5f64106" /><Relationship Type="http://schemas.openxmlformats.org/officeDocument/2006/relationships/notesMaster" Target="/ppt/notesMasters/notesMaster1.xml" Id="Rf6d38b959b0a4d8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ad59b48416b4a29" /><Relationship Type="http://schemas.openxmlformats.org/officeDocument/2006/relationships/notesMaster" Target="/ppt/notesMasters/notesMaster1.xml" Id="R560e237b7acc4b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연구 질문: 정상 문자를 위협하지 않으면서 스미싱을 정밀하게 탐지하려면 무엇을 검증해야 하는가?</a:t>
            </a:r>
          </a:p>
          <a:p xmlns:a="http://schemas.openxmlformats.org/drawingml/2006/main">
            <a:r>
              <a:t>핵심: 악성 탐지율보다 정상 사용자 오탐 통제와 후속 평가 재현성을 검증하는 연구.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(10분: 600초 / 15분: 900초 / 20분: 1,200초)]</a:t>
            </a:r>
          </a:p>
          <a:p xmlns:a="http://schemas.openxmlformats.org/drawingml/2006/main">
            <a:r>
              <a:t>- 10분 경로: 45초</a:t>
            </a:r>
          </a:p>
          <a:p xmlns:a="http://schemas.openxmlformats.org/drawingml/2006/main">
            <a:r>
              <a:t>- 15분 경로: 40초</a:t>
            </a:r>
          </a:p>
          <a:p xmlns:a="http://schemas.openxmlformats.org/drawingml/2006/main">
            <a:r>
              <a:t>- 20분 경로: 40초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docs/paper/PROJECT_COMPLETION_PLAN_20260919.md</a:t>
            </a:r>
          </a:p>
          <a:p xmlns:a="http://schemas.openxmlformats.org/drawingml/2006/main">
            <a:r>
              <a:t>reports/generated/matched_kcbert_u5_unused_test_20260918_v1.json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URL 유무만으로 판단할 수 없는 이유 제시.</a:t>
            </a:r>
          </a:p>
          <a:p xmlns:a="http://schemas.openxmlformats.org/drawingml/2006/main">
            <a:r>
              <a:t>명시적으로 합성된 정상/악성 예시(example.invalid 사용, 추론 점수 없음).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(10분: 600초 / 15분: 900초 / 20분: 1,200초)]</a:t>
            </a:r>
          </a:p>
          <a:p xmlns:a="http://schemas.openxmlformats.org/drawingml/2006/main">
            <a:r>
              <a:t>- 10분 경로: 60초</a:t>
            </a:r>
          </a:p>
          <a:p xmlns:a="http://schemas.openxmlformats.org/drawingml/2006/main">
            <a:r>
              <a:t>- 15분 경로: 60초</a:t>
            </a:r>
          </a:p>
          <a:p xmlns:a="http://schemas.openxmlformats.org/drawingml/2006/main">
            <a:r>
              <a:t>- 20분 경로: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reports/generated/poster_20260909_nanum_evidence.json</a:t>
            </a:r>
          </a:p>
          <a:p xmlns:a="http://schemas.openxmlformats.org/drawingml/2006/main">
            <a:r>
              <a:t>reports/generated/matched_kcbert_u5_unused_test_20260918_v1.json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Recall, FPR, Brier Score 지표 정의 및 분모 원칙.</a:t>
            </a:r>
          </a:p>
          <a:p xmlns:a="http://schemas.openxmlformats.org/drawingml/2006/main">
            <a:r>
              <a:t>Brier는 확률예측과 실제 레이블의 평균제곱오차, FPR cap은 calibration 임계값 선택 규칙임을 명시.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(10분: 600초 / 15분: 900초 / 20분: 1,200초)]</a:t>
            </a:r>
          </a:p>
          <a:p xmlns:a="http://schemas.openxmlformats.org/drawingml/2006/main">
            <a:r>
              <a:t>- 10분 경로: 55초</a:t>
            </a:r>
          </a:p>
          <a:p xmlns:a="http://schemas.openxmlformats.org/drawingml/2006/main">
            <a:r>
              <a:t>- 15분 경로: 60초</a:t>
            </a:r>
          </a:p>
          <a:p xmlns:a="http://schemas.openxmlformats.org/drawingml/2006/main">
            <a:r>
              <a:t>- 20분 경로: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reports/generated/matched_kcbert_u5_unused_test_20260918_v1.json</a:t>
            </a:r>
          </a:p>
          <a:p xmlns:a="http://schemas.openxmlformats.org/drawingml/2006/main">
            <a:r>
              <a:t>reports/generated/matched_kcbert_sas_local_preflight_20260917_v1.json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출처·권리 기록, 패턴 기반 마스킹, 유사도 그룹 단위 split, 승인 E 281건 lock.</a:t>
            </a:r>
          </a:p>
          <a:p xmlns:a="http://schemas.openxmlformats.org/drawingml/2006/main">
            <a:r>
              <a:t>외부 링크 접속 배제, 오프라인 텍스트 분석 원칙, 사람 검수 대기 명시.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(10분: 600초 / 15분: 900초 / 20분: 1,200초)]</a:t>
            </a:r>
          </a:p>
          <a:p xmlns:a="http://schemas.openxmlformats.org/drawingml/2006/main">
            <a:r>
              <a:t>- 10분 경로: 건너뜀</a:t>
            </a:r>
          </a:p>
          <a:p xmlns:a="http://schemas.openxmlformats.org/drawingml/2006/main">
            <a:r>
              <a:t>- 15분 경로: 65초</a:t>
            </a:r>
          </a:p>
          <a:p xmlns:a="http://schemas.openxmlformats.org/drawingml/2006/main">
            <a:r>
              <a:t>- 20분 경로: 65초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reports/generated/matched_kcbert_u5_unused_test_20260918_v1.json</a:t>
            </a:r>
          </a:p>
          <a:p xmlns:a="http://schemas.openxmlformats.org/drawingml/2006/main">
            <a:r>
              <a:t>reports/generated/matched_kcbert_u5_e_lock_20260918_v1.json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메타 학습: OOF 예측 / ROC 비교: test 점수.</a:t>
            </a:r>
          </a:p>
          <a:p xmlns:a="http://schemas.openxmlformats.org/drawingml/2006/main">
            <a:r>
              <a:t>OOF 결합의 차이 미검출은 동등성 증명이 아님을 명시. SAS 분석과 후속 Python/MPS U5 구분.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(10분: 600초 / 15분: 900초 / 20분: 1,200초)]</a:t>
            </a:r>
          </a:p>
          <a:p xmlns:a="http://schemas.openxmlformats.org/drawingml/2006/main">
            <a:r>
              <a:t>- 10분 경로: 80초</a:t>
            </a:r>
          </a:p>
          <a:p xmlns:a="http://schemas.openxmlformats.org/drawingml/2006/main">
            <a:r>
              <a:t>- 15분 경로: 90초</a:t>
            </a:r>
          </a:p>
          <a:p xmlns:a="http://schemas.openxmlformats.org/drawingml/2006/main">
            <a:r>
              <a:t>- 20분 경로: 90초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reports/generated/poster_20260909_nanum_evidence.json</a:t>
            </a:r>
          </a:p>
          <a:p xmlns:a="http://schemas.openxmlformats.org/drawingml/2006/main">
            <a:r>
              <a:t>docs/SAS_FINAL_RESULTS_20260908.md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BASE(6,680건), DUP(6,961건 = BASE + E 복제), FLIP(6,961건 = BASE + E 교란). 동일 654 업데이트 스텝. 5개 시드(42, 101, 202, 303, 404). 레이블 보존 원칙.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(10분: 600초 / 15분: 900초 / 20분: 1,200초)]</a:t>
            </a:r>
          </a:p>
          <a:p xmlns:a="http://schemas.openxmlformats.org/drawingml/2006/main">
            <a:r>
              <a:t>- 10분 경로: 65초</a:t>
            </a:r>
          </a:p>
          <a:p xmlns:a="http://schemas.openxmlformats.org/drawingml/2006/main">
            <a:r>
              <a:t>- 15분 경로: 70초</a:t>
            </a:r>
          </a:p>
          <a:p xmlns:a="http://schemas.openxmlformats.org/drawingml/2006/main">
            <a:r>
              <a:t>- 20분 경로: 70초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docs/paper/MATCHED_KCBERT_U5_PROTOCOL_20260918.md</a:t>
            </a:r>
          </a:p>
          <a:p xmlns:a="http://schemas.openxmlformats.org/drawingml/2006/main">
            <a:r>
              <a:t>reports/generated/matched_kcbert_sas_local_preflight_20260917_v1.json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검교정 분할(1,703건)에서 FPR 1% 이하로 임계값 결정 후 잠금 -&gt; 원래 test 2,317건에 1회 적용. 사후 튜닝 배제.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(10분: 600초 / 15분: 900초 / 20분: 1,200초)]</a:t>
            </a:r>
          </a:p>
          <a:p xmlns:a="http://schemas.openxmlformats.org/drawingml/2006/main">
            <a:r>
              <a:t>- 10분 경로: 건너뜀</a:t>
            </a:r>
          </a:p>
          <a:p xmlns:a="http://schemas.openxmlformats.org/drawingml/2006/main">
            <a:r>
              <a:t>- 15분 경로: 65초</a:t>
            </a:r>
          </a:p>
          <a:p xmlns:a="http://schemas.openxmlformats.org/drawingml/2006/main">
            <a:r>
              <a:t>- 20분 경로: 65초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docs/paper/MATCHED_KCBERT_U5_PROTOCOL_20260918.md</a:t>
            </a:r>
          </a:p>
          <a:p xmlns:a="http://schemas.openxmlformats.org/drawingml/2006/main">
            <a:r>
              <a:t>reports/generated/matched_kcbert_sas_local_preflight_20260917_v1.json</a:t>
            </a:r>
          </a:p>
          <a:p xmlns:a="http://schemas.openxmlformats.org/drawingml/2006/main">
            <a:r>
              <a:t>reports/generated/matched_kcbert_u5_unused_test_20260918_v1.json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탐색(1,750건): DUP FPR 0.89% vs FLIP FPR 0.68% (0.21%p 차이). U5 후속 평가(2,317건): DUP FPR 0.44% vs FLIP FPR 0.46% (개선 미재현). 재현성 검토 기록.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(10분: 600초 / 15분: 900초 / 20분: 1,200초)]</a:t>
            </a:r>
          </a:p>
          <a:p xmlns:a="http://schemas.openxmlformats.org/drawingml/2006/main">
            <a:r>
              <a:t>- 10분 경로: 90초</a:t>
            </a:r>
          </a:p>
          <a:p xmlns:a="http://schemas.openxmlformats.org/drawingml/2006/main">
            <a:r>
              <a:t>- 15분 경로: 90초</a:t>
            </a:r>
          </a:p>
          <a:p xmlns:a="http://schemas.openxmlformats.org/drawingml/2006/main">
            <a:r>
              <a:t>- 20분 경로: 90초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reports/generated/matched_kcbert_local_final_15arms_20260917_v1.json</a:t>
            </a:r>
          </a:p>
          <a:p xmlns:a="http://schemas.openxmlformats.org/drawingml/2006/main">
            <a:r>
              <a:t>reports/generated/matched_kcbert_u5_unused_test_20260918_v1.json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원래 test 분할(2,317건) 5개 시드 기술 통계: BASE, DUP, FLIP. 통계적 우월성 또는 동등성 판정 없음. 표준편차는 5개 시드 간 변동폭이며 신뢰구간이 아님.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(10분: 600초 / 15분: 900초 / 20분: 1,200초)]</a:t>
            </a:r>
          </a:p>
          <a:p xmlns:a="http://schemas.openxmlformats.org/drawingml/2006/main">
            <a:r>
              <a:t>- 10분 경로: 75초</a:t>
            </a:r>
          </a:p>
          <a:p xmlns:a="http://schemas.openxmlformats.org/drawingml/2006/main">
            <a:r>
              <a:t>- 15분 경로: 80초</a:t>
            </a:r>
          </a:p>
          <a:p xmlns:a="http://schemas.openxmlformats.org/drawingml/2006/main">
            <a:r>
              <a:t>- 20분 경로: 80초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reports/generated/matched_kcbert_u5_unused_test_20260918_v1.json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URL 유무 하위집단 분모: 전체 정상 1,665건, URL 있는 정상 298건, URL 없는 정상 1,367건. URL 없는 악성 54건 표본 한계 명시. 관찰된 격차와 소표본 불확실성 구분.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(10분: 600초 / 15분: 900초 / 20분: 1,200초)]</a:t>
            </a:r>
          </a:p>
          <a:p xmlns:a="http://schemas.openxmlformats.org/drawingml/2006/main">
            <a:r>
              <a:t>- 10분 경로: 건너뜀</a:t>
            </a:r>
          </a:p>
          <a:p xmlns:a="http://schemas.openxmlformats.org/drawingml/2006/main">
            <a:r>
              <a:t>- 15분 경로: 80초</a:t>
            </a:r>
          </a:p>
          <a:p xmlns:a="http://schemas.openxmlformats.org/drawingml/2006/main">
            <a:r>
              <a:t>- 20분 경로: 80초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reports/generated/matched_kcbert_u5_unused_test_20260918_v1.json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실증 데이터 기반 의사결정: 1) FLIP 자동 채택 보류, 2) 다음 연구 비교대조군으로 DUP 유지 (현재 배포 모델 선택/교체 없음), 3) Two-track 사후 탐색 배제.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(10분: 600초 / 15분: 900초 / 20분: 1,200초)]</a:t>
            </a:r>
          </a:p>
          <a:p xmlns:a="http://schemas.openxmlformats.org/drawingml/2006/main">
            <a:r>
              <a:t>- 10분 경로: 60초</a:t>
            </a:r>
          </a:p>
          <a:p xmlns:a="http://schemas.openxmlformats.org/drawingml/2006/main">
            <a:r>
              <a:t>- 15분 경로: 70초</a:t>
            </a:r>
          </a:p>
          <a:p xmlns:a="http://schemas.openxmlformats.org/drawingml/2006/main">
            <a:r>
              <a:t>- 20분 경로: 70초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PROJECT_STATUS.md</a:t>
            </a:r>
          </a:p>
          <a:p xmlns:a="http://schemas.openxmlformats.org/drawingml/2006/main">
            <a:r>
              <a:t>reports/generated/matched_kcbert_u5_unused_test_20260918_v1.json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민감 데이터/가중치 제외, 집계 정본 JSON 배포, 공개 재검산 스크립트와 합성 테스트를 분리해 제시.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(10분: 600초 / 15분: 900초 / 20분: 1,200초)]</a:t>
            </a:r>
          </a:p>
          <a:p xmlns:a="http://schemas.openxmlformats.org/drawingml/2006/main">
            <a:r>
              <a:t>- 10분 경로: 건너뜀</a:t>
            </a:r>
          </a:p>
          <a:p xmlns:a="http://schemas.openxmlformats.org/drawingml/2006/main">
            <a:r>
              <a:t>- 15분 경로: 60초</a:t>
            </a:r>
          </a:p>
          <a:p xmlns:a="http://schemas.openxmlformats.org/drawingml/2006/main">
            <a:r>
              <a:t>- 20분 경로: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docs/paper/U5_VERIFICATION_EXECUTION_20260919.md</a:t>
            </a:r>
          </a:p>
          <a:p xmlns:a="http://schemas.openxmlformats.org/drawingml/2006/main">
            <a:r>
              <a:t>reports/generated/matched_kcbert_u5_unused_test_20260918_v1.json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3대 교훈: 1) SAS 분석 기반의 단순 결합 재검토, 2) 통제 대조실험의 재현성 검토, 3) 실증 데이터 기반의 채택 보류. 잔여 과제: 외부 독립 코퍼스 확보, 정상 URL 표본 확충, SAS 서버 파이프라인 연계.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(10분: 600초 / 15분: 900초 / 20분: 1,200초)]</a:t>
            </a:r>
          </a:p>
          <a:p xmlns:a="http://schemas.openxmlformats.org/drawingml/2006/main">
            <a:r>
              <a:t>- 10분 경로: 70초</a:t>
            </a:r>
          </a:p>
          <a:p xmlns:a="http://schemas.openxmlformats.org/drawingml/2006/main">
            <a:r>
              <a:t>- 15분 경로: 70초</a:t>
            </a:r>
          </a:p>
          <a:p xmlns:a="http://schemas.openxmlformats.org/drawingml/2006/main">
            <a:r>
              <a:t>- 20분 경로: 70초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PROJECT_STATUS.md</a:t>
            </a:r>
          </a:p>
          <a:p xmlns:a="http://schemas.openxmlformats.org/drawingml/2006/main">
            <a:r>
              <a:t>reports/generated/matched_kcbert_u5_unused_test_20260918_v1.json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Recall, FPR, Brier Score 공식 및 15개 모델 전수 체크포인트 요약표. 표준편차는 시드 간 변동폭.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(10분: 600초 / 15분: 900초 / 20분: 1,200초)]</a:t>
            </a:r>
          </a:p>
          <a:p xmlns:a="http://schemas.openxmlformats.org/drawingml/2006/main">
            <a:r>
              <a:t>- 10분 경로: 건너뜀</a:t>
            </a:r>
          </a:p>
          <a:p xmlns:a="http://schemas.openxmlformats.org/drawingml/2006/main">
            <a:r>
              <a:t>- 15분 경로: 건너뜀</a:t>
            </a:r>
          </a:p>
          <a:p xmlns:a="http://schemas.openxmlformats.org/drawingml/2006/main">
            <a:r>
              <a:t>- 20분 경로: 90초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reports/generated/matched_kcbert_u5_unused_test_20260918_v1.json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패턴 기반 마스킹과 공개 제외 항목을 구분해 기록합니다. 출처·권리는 public docs/PROVENANCE.md에서 별도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(10분: 600초 / 15분: 900초 / 20분: 1,200초)]</a:t>
            </a:r>
          </a:p>
          <a:p xmlns:a="http://schemas.openxmlformats.org/drawingml/2006/main">
            <a:r>
              <a:t>- 10분 경로: 건너뜀</a:t>
            </a:r>
          </a:p>
          <a:p xmlns:a="http://schemas.openxmlformats.org/drawingml/2006/main">
            <a:r>
              <a:t>- 15분 경로: 건너뜀</a:t>
            </a:r>
          </a:p>
          <a:p xmlns:a="http://schemas.openxmlformats.org/drawingml/2006/main">
            <a:r>
              <a:t>- 20분 경로: 질의응답/참고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docs/DATA_LINEAGE.md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U5 test는 과거 모델 평가에 활용된 적이 있어 완전한 외부 미열람 코퍼스는 아님. Apple Silicon MPS 환경의 한계.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(10분: 600초 / 15분: 900초 / 20분: 1,200초)]</a:t>
            </a:r>
          </a:p>
          <a:p xmlns:a="http://schemas.openxmlformats.org/drawingml/2006/main">
            <a:r>
              <a:t>- 10분 경로: 건너뜀</a:t>
            </a:r>
          </a:p>
          <a:p xmlns:a="http://schemas.openxmlformats.org/drawingml/2006/main">
            <a:r>
              <a:t>- 15분 경로: 건너뜀</a:t>
            </a:r>
          </a:p>
          <a:p xmlns:a="http://schemas.openxmlformats.org/drawingml/2006/main">
            <a:r>
              <a:t>- 20분 경로: 90초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docs/paper/MATCHED_KCBERT_U5_PROTOCOL_20260918.md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SAS 분석 결과는 OOF 회귀 기반의 공식 분석 근거임. Two-track은 개발 단계 사후 시뮬레이션으로 본편 확증 성과에서 분리.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(10분: 600초 / 15분: 900초 / 20분: 1,200초)]</a:t>
            </a:r>
          </a:p>
          <a:p xmlns:a="http://schemas.openxmlformats.org/drawingml/2006/main">
            <a:r>
              <a:t>- 10분 경로: 건너뜀</a:t>
            </a:r>
          </a:p>
          <a:p xmlns:a="http://schemas.openxmlformats.org/drawingml/2006/main">
            <a:r>
              <a:t>- 15분 경로: 건너뜀</a:t>
            </a:r>
          </a:p>
          <a:p xmlns:a="http://schemas.openxmlformats.org/drawingml/2006/main">
            <a:r>
              <a:t>- 20분 경로: 120초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docs/SAS_FINAL_RESULTS_20260908.md</a:t>
            </a:r>
          </a:p>
          <a:p xmlns:a="http://schemas.openxmlformats.org/drawingml/2006/main">
            <a:r>
              <a:t>reports/generated/matched_kcbert_u5_unused_test_20260918_v1.json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질의응답 즉답 카드: 공개 검산, 합성 테스트, data-free demo의 공개 경로를 요약합니다.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[시간 배정 (10분: 600초 / 15분: 900초 / 20분: 1,200초)]</a:t>
            </a:r>
          </a:p>
          <a:p xmlns:a="http://schemas.openxmlformats.org/drawingml/2006/main">
            <a:r>
              <a:t>- 10분 경로: 건너뜀</a:t>
            </a:r>
          </a:p>
          <a:p xmlns:a="http://schemas.openxmlformats.org/drawingml/2006/main">
            <a:r>
              <a:t>- 15분 경로: 건너뜀</a:t>
            </a:r>
          </a:p>
          <a:p xmlns:a="http://schemas.openxmlformats.org/drawingml/2006/main">
            <a:r>
              <a:t>- 20분 경로: 질의응답/참고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 경로]</a:t>
            </a:r>
          </a:p>
          <a:p xmlns:a="http://schemas.openxmlformats.org/drawingml/2006/main">
            <a:r>
              <a:t>scripts/verify_public_results.py</a:t>
            </a:r>
          </a:p>
          <a:p xmlns:a="http://schemas.openxmlformats.org/drawingml/2006/main">
            <a:r>
              <a:t>tests/</a:t>
            </a:r>
          </a:p>
          <a:p xmlns:a="http://schemas.openxmlformats.org/drawingml/2006/main">
            <a:r>
              <a:t>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c7227ace541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369737fbe14504" /><Relationship Type="http://schemas.openxmlformats.org/officeDocument/2006/relationships/slideLayout" Target="/ppt/slideLayouts/slideLayout1.xml" Id="R956fda5af0e143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6fda5af0e143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0a5cd9bfe45c9" /><Relationship Type="http://schemas.openxmlformats.org/officeDocument/2006/relationships/notesSlide" Target="/ppt/notesSlides/notesSlide1.xml" Id="Ra76bb759dab244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53fcc7ff748db" /><Relationship Type="http://schemas.openxmlformats.org/officeDocument/2006/relationships/notesSlide" Target="/ppt/notesSlides/notesSlide2.xml" Id="R96b102e8f2a54b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596fe4dcf47e2" /><Relationship Type="http://schemas.openxmlformats.org/officeDocument/2006/relationships/notesSlide" Target="/ppt/notesSlides/notesSlide3.xml" Id="Rfbe403599b3f41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b0a7d507d4ab3" /><Relationship Type="http://schemas.openxmlformats.org/officeDocument/2006/relationships/notesSlide" Target="/ppt/notesSlides/notesSlide4.xml" Id="R178c7885014a42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e908f210b4539" /><Relationship Type="http://schemas.openxmlformats.org/officeDocument/2006/relationships/notesSlide" Target="/ppt/notesSlides/notesSlide5.xml" Id="R1128c6e4a4ee41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d381541454066" /><Relationship Type="http://schemas.openxmlformats.org/officeDocument/2006/relationships/notesSlide" Target="/ppt/notesSlides/notesSlide6.xml" Id="R1478c9bd3f8c42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03e2bce5f4dfe" /><Relationship Type="http://schemas.openxmlformats.org/officeDocument/2006/relationships/notesSlide" Target="/ppt/notesSlides/notesSlide7.xml" Id="R0e12a65f0e034b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9f10d17874a0b" /><Relationship Type="http://schemas.openxmlformats.org/officeDocument/2006/relationships/chart" Target="/ppt/slides/charts/chart1.xml" Id="R9e949afca4c04be6" /><Relationship Type="http://schemas.openxmlformats.org/officeDocument/2006/relationships/notesSlide" Target="/ppt/notesSlides/notesSlide8.xml" Id="R5a8ad707be8f45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97a9b51184347" /><Relationship Type="http://schemas.openxmlformats.org/officeDocument/2006/relationships/notesSlide" Target="/ppt/notesSlides/notesSlide9.xml" Id="R4163b0b2c60e47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1ab8f6ae24956" /><Relationship Type="http://schemas.openxmlformats.org/officeDocument/2006/relationships/chart" Target="/ppt/slides/charts/chart2.xml" Id="R30a653017c4b4456" /><Relationship Type="http://schemas.openxmlformats.org/officeDocument/2006/relationships/notesSlide" Target="/ppt/notesSlides/notesSlide10.xml" Id="Re6d588d86ecb45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3bd079a8245d6" /><Relationship Type="http://schemas.openxmlformats.org/officeDocument/2006/relationships/notesSlide" Target="/ppt/notesSlides/notesSlide11.xml" Id="R64d433224ecc45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761dbc25e4f2c" /><Relationship Type="http://schemas.openxmlformats.org/officeDocument/2006/relationships/notesSlide" Target="/ppt/notesSlides/notesSlide12.xml" Id="R43c97d41ac854b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c3c8fe9cb4d35" /><Relationship Type="http://schemas.openxmlformats.org/officeDocument/2006/relationships/notesSlide" Target="/ppt/notesSlides/notesSlide13.xml" Id="Raddfd7f8f6104c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72ba244a847d9" /><Relationship Type="http://schemas.openxmlformats.org/officeDocument/2006/relationships/notesSlide" Target="/ppt/notesSlides/notesSlide14.xml" Id="Rafa3625a22cd42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e4c81864c436d" /><Relationship Type="http://schemas.openxmlformats.org/officeDocument/2006/relationships/notesSlide" Target="/ppt/notesSlides/notesSlide15.xml" Id="R093ce1dc336d44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b843d34a64b25" /><Relationship Type="http://schemas.openxmlformats.org/officeDocument/2006/relationships/notesSlide" Target="/ppt/notesSlides/notesSlide16.xml" Id="Rc039c80bf85a41a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f389fda59471b" /><Relationship Type="http://schemas.openxmlformats.org/officeDocument/2006/relationships/notesSlide" Target="/ppt/notesSlides/notesSlide17.xml" Id="R63df3879354948e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403bd94a94e95" /><Relationship Type="http://schemas.openxmlformats.org/officeDocument/2006/relationships/notesSlide" Target="/ppt/notesSlides/notesSlide18.xml" Id="Rb39edc8af5b64cf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DUP</c:v>
          </c:tx>
          <c:spPr>
            <a:solidFill xmlns:a="http://schemas.openxmlformats.org/drawingml/2006/main">
              <a:srgbClr val="8192A3"/>
            </a:solidFill>
          </c:spPr>
          <c:cat>
            <c:strRef>
              <c:f>'Chart Data'!$A$2:$A$3</c:f>
              <c:strCache>
                <c:ptCount val="2"/>
                <c:pt idx="0">
                  <c:v>개발 탐색 (1,750건)</c:v>
                </c:pt>
                <c:pt idx="1">
                  <c:v>후속 평가 (2,317건)</c:v>
                </c:pt>
              </c:strCache>
            </c:strRef>
          </c:cat>
          <c:val>
            <c:numRef>
              <c:f>'Chart Data'!$B$2:$B$3</c:f>
              <c:numCache>
                <c:formatCode>0.00%</c:formatCode>
                <c:ptCount val="2"/>
                <c:pt idx="0">
                  <c:v>0.008873</c:v>
                </c:pt>
                <c:pt idx="1">
                  <c:v>0.004444</c:v>
                </c:pt>
              </c:numCache>
            </c:numRef>
          </c:val>
        </c:ser>
        <c:ser>
          <c:idx val="1"/>
          <c:order val="1"/>
          <c:tx>
            <c:v>FLIP</c:v>
          </c:tx>
          <c:spPr>
            <a:solidFill xmlns:a="http://schemas.openxmlformats.org/drawingml/2006/main">
              <a:srgbClr val="326DA3"/>
            </a:solidFill>
          </c:spPr>
          <c:cat>
            <c:strRef>
              <c:f>'Chart Data'!$C$2:$C$3</c:f>
              <c:strCache>
                <c:ptCount val="2"/>
                <c:pt idx="0">
                  <c:v>개발 탐색 (1,750건)</c:v>
                </c:pt>
                <c:pt idx="1">
                  <c:v>후속 평가 (2,317건)</c:v>
                </c:pt>
              </c:strCache>
            </c:strRef>
          </c:cat>
          <c:val>
            <c:numRef>
              <c:f>'Chart Data'!$D$2:$D$3</c:f>
              <c:numCache>
                <c:formatCode>0.00%</c:formatCode>
                <c:ptCount val="2"/>
                <c:pt idx="0">
                  <c:v>0.006761</c:v>
                </c:pt>
                <c:pt idx="1">
                  <c:v>0.004565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839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012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E0E6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004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42839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</c:v>
          </c:tx>
          <c:spPr>
            <a:solidFill xmlns:a="http://schemas.openxmlformats.org/drawingml/2006/main">
              <a:srgbClr val="BCC6CF"/>
            </a:solidFill>
          </c:spPr>
          <c:cat>
            <c:strRef>
              <c:f>'Chart Data'!$A$2:$A$3</c:f>
              <c:strCache>
                <c:ptCount val="2"/>
                <c:pt idx="0">
                  <c:v>URL 없음</c:v>
                </c:pt>
                <c:pt idx="1">
                  <c:v>URL 있음</c:v>
                </c:pt>
              </c:strCache>
            </c:strRef>
          </c:cat>
          <c:val>
            <c:numRef>
              <c:f>'Chart Data'!$B$2:$B$3</c:f>
              <c:numCache>
                <c:formatCode>0.00%</c:formatCode>
                <c:ptCount val="2"/>
                <c:pt idx="0">
                  <c:v>0.002195</c:v>
                </c:pt>
                <c:pt idx="1">
                  <c:v>0.02349</c:v>
                </c:pt>
              </c:numCache>
            </c:numRef>
          </c:val>
        </c:ser>
        <c:ser>
          <c:idx val="1"/>
          <c:order val="1"/>
          <c:tx>
            <c:v>DUP</c:v>
          </c:tx>
          <c:spPr>
            <a:solidFill xmlns:a="http://schemas.openxmlformats.org/drawingml/2006/main">
              <a:srgbClr val="8192A3"/>
            </a:solidFill>
          </c:spPr>
          <c:cat>
            <c:strRef>
              <c:f>'Chart Data'!$C$2:$C$3</c:f>
              <c:strCache>
                <c:ptCount val="2"/>
                <c:pt idx="0">
                  <c:v>URL 없음</c:v>
                </c:pt>
                <c:pt idx="1">
                  <c:v>URL 있음</c:v>
                </c:pt>
              </c:strCache>
            </c:strRef>
          </c:cat>
          <c:val>
            <c:numRef>
              <c:f>'Chart Data'!$D$2:$D$3</c:f>
              <c:numCache>
                <c:formatCode>0.00%</c:formatCode>
                <c:ptCount val="2"/>
                <c:pt idx="0">
                  <c:v>0.001024</c:v>
                </c:pt>
                <c:pt idx="1">
                  <c:v>0.020134</c:v>
                </c:pt>
              </c:numCache>
            </c:numRef>
          </c:val>
        </c:ser>
        <c:ser>
          <c:idx val="2"/>
          <c:order val="2"/>
          <c:tx>
            <c:v>FLIP</c:v>
          </c:tx>
          <c:spPr>
            <a:solidFill xmlns:a="http://schemas.openxmlformats.org/drawingml/2006/main">
              <a:srgbClr val="326DA3"/>
            </a:solidFill>
          </c:spPr>
          <c:cat>
            <c:strRef>
              <c:f>'Chart Data'!$E$2:$E$3</c:f>
              <c:strCache>
                <c:ptCount val="2"/>
                <c:pt idx="0">
                  <c:v>URL 없음</c:v>
                </c:pt>
                <c:pt idx="1">
                  <c:v>URL 있음</c:v>
                </c:pt>
              </c:strCache>
            </c:strRef>
          </c:cat>
          <c:val>
            <c:numRef>
              <c:f>'Chart Data'!$F$2:$F$3</c:f>
              <c:numCache>
                <c:formatCode>0.00%</c:formatCode>
                <c:ptCount val="2"/>
                <c:pt idx="0">
                  <c:v>0.000878</c:v>
                </c:pt>
                <c:pt idx="1">
                  <c:v>0.021477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839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03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E0E6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0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42839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8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C566B-8A80-4047-B8AF-30612758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rPr>
              <a:t>SCAMLENS  /  RESEARCH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08FEB-2414-466E-A3D7-B57E4F55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BFA06-FF50-4992-8ECF-1048F42F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58D3E-ABBF-415A-B32B-DB813841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204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정상 문자를 지키는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스미싱 탐지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19135-72DF-4EFB-851B-34AC2651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AC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A54CB-9907-4548-8D01-18905880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AD4D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CAD4DE"/>
                </a:solidFill>
                <a:latin typeface="Arial Unicode MS"/>
                <a:ea typeface="Arial Unicode MS"/>
                <a:cs typeface="Arial Unicode MS"/>
              </a:rPr>
              <a:t>문자·URL 결합과 URL 교란 학습의 효과 검증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E7F69-E5A3-46C4-9B67-D2CCBFE4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82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3A9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93A9BF"/>
                </a:solidFill>
                <a:latin typeface="Arial Unicode MS"/>
                <a:ea typeface="Arial Unicode MS"/>
                <a:cs typeface="Arial Unicode MS"/>
              </a:rPr>
              <a:t>SAS 분석 · 대조 실험 · 오탐률 평가</a:t>
            </a:r>
          </a:p>
        </p:txBody>
      </p:sp>
    </p:spTree>
    <p:extLst>
      <p:ext uri="{BB962C8B-B14F-4D97-AF65-F5344CB8AC3E}">
        <p14:creationId xmlns:p14="http://schemas.microsoft.com/office/powerpoint/2010/main" val="21181013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31965A-A9D8-4ED2-95BD-831E7578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01  /  문제 정의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F21D8-7974-4178-8369-8DEC075B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URL만으로는 위험을 설명할 수 없습니다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F04A8-EE60-4105-B240-7B32A530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D3633-60E4-4D3D-82A8-91535F42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9684F-3DCA-4A20-A4A9-73929AF5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정상 알림에도 URL이 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85891-9D00-423F-8D81-E446D2C5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38375"/>
            <a:ext cx="5172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URL 없이도 송금을 요구합니다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33BDB-22C4-408A-8B80-3E171FEF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5172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E93DA-7F63-447B-A8DF-1934C805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67025"/>
            <a:ext cx="5172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991A8-1325-4FF3-B798-D1257730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1911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[배송 안내]</a:t>
            </a:r>
          </a:p>
          <a:p xmlns:a="http://schemas.openxmlformats.org/drawingml/2006/main">
            <a:pPr>
              <a:defRPr sz="217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배송 현황은 아래에서 확인하세요.</a:t>
            </a:r>
          </a:p>
          <a:p xmlns:a="http://schemas.openxmlformats.org/drawingml/2006/main">
            <a:pPr>
              <a:defRPr sz="217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https://example.invalid/delivery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3B3ECD-E867-46FF-90AF-E0702FC6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62300"/>
            <a:ext cx="51720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[가족 사칭]</a:t>
            </a:r>
          </a:p>
          <a:p xmlns:a="http://schemas.openxmlformats.org/drawingml/2006/main">
            <a:pPr>
              <a:defRPr sz="217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엄마, 휴대폰이 고장 났어.</a:t>
            </a:r>
          </a:p>
          <a:p xmlns:a="http://schemas.openxmlformats.org/drawingml/2006/main">
            <a:pPr>
              <a:defRPr sz="217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급하게 대신 이체해 줄 수 있어?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4ABD3-E7B4-4374-8002-CA257B58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문자 내용과 URL 단서를 함께 검증해야 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A58D4-BB5D-489F-BFAA-C14D90A3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설명용 합성 문장입니다. 실제 수신 문자나 접속 가능한 분석 대상이 아닙니다.</a:t>
            </a:r>
          </a:p>
        </p:txBody>
      </p:sp>
    </p:spTree>
    <p:extLst>
      <p:ext uri="{BB962C8B-B14F-4D97-AF65-F5344CB8AC3E}">
        <p14:creationId xmlns:p14="http://schemas.microsoft.com/office/powerpoint/2010/main" val="637605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2A564B-4C00-42FE-92DB-5BA21359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02  /  평가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001CA-890B-4BC4-9CB4-13CD858A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탐지율과 함께 정상 문자의 오탐을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5491F-A7E4-4BE8-BE5A-B08970CC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B87A3-DA6E-48E0-993F-A84373FA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5CD70-F38F-46CD-8209-F219F405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DCA0A-683A-45E7-9D66-E7845BB2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9075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재현율  Recall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BFCF1-F490-4DE6-94E5-CC87F6D8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90750"/>
            <a:ext cx="6696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스미싱 중 찾아낸 비율</a:t>
            </a:r>
          </a:p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TP / (TP + FN)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943A3-B8A2-4981-A670-B1505026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09900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78C8C-81E4-4CB2-B263-12DB0794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D9722-F4F4-4DAE-AC1D-23681674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3375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오탐률  FPR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01589-1E15-4660-8111-4181B17A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33750"/>
            <a:ext cx="6696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정상 문자 중 스미싱으로 잘못 판단한 비율</a:t>
            </a:r>
          </a:p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FP / (FP + TN)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1BFD0-6C37-404B-99DF-81C83BD4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152900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1EB9B-1006-4022-8229-B5C8B35E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BCD67-0965-4702-AEF9-3542F0DB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7675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확률 오차  Brier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71A70-E3FF-4F9B-8086-315875FB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76750"/>
            <a:ext cx="6696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예측 확률과 정답의 차이 · 작을수록 좋음</a:t>
            </a:r>
          </a:p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평균 (p − y)²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79817-E83D-4534-9B67-DF6EACE1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295900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40B28-8546-4CDE-96EB-42DE6641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U5 평가 2,317건 = 정상 1,665건 + 스미싱 652건</a:t>
            </a:r>
          </a:p>
        </p:txBody>
      </p:sp>
    </p:spTree>
    <p:extLst>
      <p:ext uri="{BB962C8B-B14F-4D97-AF65-F5344CB8AC3E}">
        <p14:creationId xmlns:p14="http://schemas.microsoft.com/office/powerpoint/2010/main" val="3638585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68C913-54E2-436A-B2BD-BC476B88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03  /  데이터 관리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767FE-2130-4622-8586-0DE50207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데이터와 평가 입력부터 고정했습니다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EC586-A32A-40C4-8400-06517A4A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4C214-63F2-436C-872E-C41B73CF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3DB52-7218-4112-9B24-8AAD795D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57A6D-3F38-4BD2-922C-2E1995BD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09550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출처와 권리 기록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101D9-E39B-4E85-AC85-EF0649FB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95500"/>
            <a:ext cx="6696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출처·라이선스와 원문 재배포 제한을 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BB422-52A8-44A1-A0D7-30198DF4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914650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272D1-F514-42C8-B2A1-566A4B6A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7FFC4-050A-43F4-B71D-BDA0CAE8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2895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패턴 기반 마스킹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3C9DA-FD25-456D-ABE5-7E4E4EE2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28950"/>
            <a:ext cx="6696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연락처·계좌 등을 마스킹</a:t>
            </a:r>
          </a:p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자동 탐지의 미탐 가능성과 사람 검수 상태를 별도 기록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C0032-42F5-4CC2-90F7-07D3F08D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48100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32279-98C7-46E7-AE0F-5A5F67CB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FC117-1514-4697-9461-AC652073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6240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유사도 그룹 분할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37A55-146D-4613-8B56-C01F6EE6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62400"/>
            <a:ext cx="6696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완전 중복 제거 후 유사 문장을 같은 그룹으로 관리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AC8C3-55BC-4C2D-8B7C-DB27CF51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781550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65C00-A335-423C-8F05-5E2353AC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15BD31-D819-4B70-BA94-4192962D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89585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증강 코호트 고정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9CD8D-FB82-49F7-BCA3-02B8FC30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95850"/>
            <a:ext cx="6696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E 281건을 고정하고 기본 fit 입력과 분리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E436DD-169E-4061-9330-CF89E0AE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715000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FC2AD9-DED1-4FF3-B296-3D7848F3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URL은 오프라인 문자열로만 분석했습니다.</a:t>
            </a:r>
          </a:p>
        </p:txBody>
      </p:sp>
    </p:spTree>
    <p:extLst>
      <p:ext uri="{BB962C8B-B14F-4D97-AF65-F5344CB8AC3E}">
        <p14:creationId xmlns:p14="http://schemas.microsoft.com/office/powerpoint/2010/main" val="10164795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0B320-0B44-49B1-A7FF-262FCCBB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04  /  SAS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DDFFD-E504-477B-808E-4ED72B7C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SAS에서 결합 모형의 이득을 확인하지 못했습니다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61C54-B59F-4C58-BE02-B42B66ED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442C4-9EB0-4159-A4B0-A76B62D0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A7E31-5AB1-4856-831D-C2E718EC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Test AUC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2676525"/>
          <a:ext xmlns:a="http://schemas.openxmlformats.org/drawingml/2006/main" cx="66675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2286000"/>
              </a:tblGrid>
              <a:tr h="607219">
                <a:tc>
                  <a:txBody>
                    <a:bodyPr lIns="133350" tIns="85725" rIns="133350" bIns="85725"/>
                    <a:lstStyle/>
                    <a:p>
                      <a:r>
                        <a:rPr sz="2100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모형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100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AUC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</a:tr>
              <a:tr h="607219">
                <a:tc>
                  <a:txBody>
                    <a:bodyPr lIns="133350" tIns="85725" rIns="133350" bIns="85725"/>
                    <a:lstStyle/>
                    <a:p>
                      <a:r>
                        <a:rPr sz="21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문자 단독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1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0.9987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 lIns="133350" tIns="85725" rIns="133350" bIns="85725"/>
                    <a:lstStyle/>
                    <a:p>
                      <a:r>
                        <a:rPr sz="21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고정가중 결합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1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0.9950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607219">
                <a:tc>
                  <a:txBody>
                    <a:bodyPr lIns="133350" tIns="85725" rIns="133350" bIns="85725"/>
                    <a:lstStyle/>
                    <a:p>
                      <a:r>
                        <a:rPr sz="21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OOF 기반 결합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1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0.9988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6D549-9B73-49DF-B8BF-D4FF76BC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781300"/>
            <a:ext cx="35147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p = 0.7233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5ACDC-67DB-4621-8A5B-00DF5659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695700"/>
            <a:ext cx="3514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문자 단독 − OOF 결합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505B3-2D35-44D8-A460-B9588AF2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162425"/>
            <a:ext cx="35147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AUC 차이 -0.00006</a:t>
            </a:r>
          </a:p>
          <a:p xmlns:a="http://schemas.openxmlformats.org/drawingml/2006/main">
            <a:pPr>
              <a:def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95% CI</a:t>
            </a:r>
          </a:p>
          <a:p xmlns:a="http://schemas.openxmlformats.org/drawingml/2006/main">
            <a:pPr>
              <a:def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[-0.00039, 0.000267]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345EE-C5CC-41E9-94AF-EB9962A0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차이를 검출하지 못했다는 결과이며, 두 모형의 동등성을 증명한 것은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0355105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BDE08-DCB8-4885-8CB4-E4E1E3CF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05  /  대조 실험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F0471-B160-43F4-97A7-B5F3ACA4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데이터를 늘린 효과와 URL 교란 효과를 분리했습니다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F11A1-0075-4281-9D6E-6222C432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BFEDD-630B-4CD7-90FB-9A452F8E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2333625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6858000"/>
                <a:gridCol w="2152650"/>
              </a:tblGrid>
              <a:tr h="647700">
                <a:tc>
                  <a:txBody>
                    <a:bodyPr lIns="133350" tIns="85725" rIns="133350" bIns="85725"/>
                    <a:lstStyle/>
                    <a:p>
                      <a:r>
                        <a:rPr sz="202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실험군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학습 데이터 구성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건수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</a:tr>
              <a:tr h="647700"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BASE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기본 학습 데이터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6,680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DUP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BASE + E 281건 단순 복제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6,961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647700"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FLIP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BASE + E 281건 URL 유무 반전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202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6,961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3E2D5-DE4B-4486-A48D-18D0A6C9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세 조건 모두 654회 업데이트 · 5개 시드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9C4FF-FC80-4425-896A-BDE94A2D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FLIP은 정답 레이블을 유지합니다. DUP과 비교해 복제량의 영향을 통제했습니다.</a:t>
            </a:r>
          </a:p>
        </p:txBody>
      </p:sp>
    </p:spTree>
    <p:extLst>
      <p:ext uri="{BB962C8B-B14F-4D97-AF65-F5344CB8AC3E}">
        <p14:creationId xmlns:p14="http://schemas.microsoft.com/office/powerpoint/2010/main" val="7260800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E1B79-EB9D-438D-AF12-2EBEFAAA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06  /  평가 절차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6DC70-9858-418E-9ABA-ACA7D07D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임계값을 정한 뒤 후속 평가에 한 번 적용했습니다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C71B6-07B3-4DA1-8242-74A1A175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F1D6F-DC6E-48F8-A711-971615BD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95AA7-9FB2-4378-BE34-74B9793E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97A2C-AC95-4C80-8750-F799980B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257425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임계값 선택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220FE-AFA3-4584-A0D5-A37F1049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57425"/>
            <a:ext cx="6696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검교정 1,703건에서 FPR 1% 이하 제약으로 선택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54D0C-AD41-44BB-B7A8-A8F78235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7657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76CC9-066F-4185-955C-000C97E8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1DD33-86B3-4095-9C77-61C86D14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00425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모델·임계값 고정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85B43-718D-4D90-885B-EB34024F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00425"/>
            <a:ext cx="6696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체크포인트와 임계값을 기록하고 평가 전 동결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CE55F-1854-4557-ABC0-C505B587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1957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CE046-E7E2-4F5D-919D-09213744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797EA-BAEA-47F3-A1F8-4E229905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43425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후속 평가 U5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F8FCE-D825-4B53-97F2-071120BA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43425"/>
            <a:ext cx="6696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원래 test 2,317건에 적용</a:t>
            </a:r>
          </a:p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이 분할은 과거 모델 평가에 사용된 이력이 있음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5ED70F-840E-4198-BA47-0698BAA5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36257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19E35D-1FC2-47C0-8A86-BF74139A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1%는 검교정 단계의 선택 기준이며, 서비스 환경의 오탐률을 보장하지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3246934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199EC-6857-4372-8331-4E0D07A9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07  /  핵심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2F01B-7A77-443B-BF51-6DA4C00C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개발셋의 개선은 후속 평가로 이어지지 않았습니다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B1954-CB6A-413C-A08D-15F078E0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A1FDB-262E-40B6-B272-104C2BBC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632EB-AF80-44E8-BDC6-2F90DAC4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오탐률 FPR · 낮을수록 좋음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85800" y="2609850"/>
          <a:ext xmlns:a="http://schemas.openxmlformats.org/drawingml/2006/main" cx="7734300" cy="3009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949afca4c04be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D1982-D99B-486A-9FA8-77F9193C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19400"/>
            <a:ext cx="249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−0.21%p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9CF0A-2841-4A1D-A60E-ACE12C7C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14725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개발 탐색에서</a:t>
            </a:r>
          </a:p>
          <a:p xmlns:a="http://schemas.openxmlformats.org/drawingml/2006/main">
            <a:pPr>
              <a:defRPr sz="18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FLIP − DUP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29A4F-073E-4C6E-979C-1DFD029C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48175"/>
            <a:ext cx="249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+0.01%p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C778E-1E6A-45D3-8423-798EF40D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62550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U5 후속 평가에서</a:t>
            </a:r>
          </a:p>
          <a:p xmlns:a="http://schemas.openxmlformats.org/drawingml/2006/main">
            <a:pPr>
              <a:defRPr sz="18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FLIP − DUP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6B4AB-6F0A-44FB-B782-DA7E395E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각 자료 안에서 DUP과 FLIP을 비교했습니다. 차이는 반올림 전 값으로 계산했습니다.</a:t>
            </a:r>
          </a:p>
          <a:p xmlns:a="http://schemas.openxmlformats.org/drawingml/2006/main">
            <a:pPr>
              <a:defRPr sz="13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U5 차이에 대한 유의성 검정은 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7225034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F6088-5B42-4CFC-9073-B9BAFB97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08  /  전체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A21A6-EE9A-49DA-97EF-D802D407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후속 평가에서도 FLIP을 채택할 근거는 부족했습니다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3D40F-39F5-4AC7-9F59-2BE5FB42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9712C-646A-4615-A887-B41F37F3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AAA9A-63A8-418B-B951-6AECF1D2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U5 2,317건 · 5개 시드의 평균 ± 표준편차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2743200"/>
          <a:ext xmlns:a="http://schemas.openxmlformats.org/drawingml/2006/main" cx="10820400" cy="2533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90650"/>
                <a:gridCol w="2286000"/>
                <a:gridCol w="2286000"/>
                <a:gridCol w="2428875"/>
                <a:gridCol w="2428875"/>
              </a:tblGrid>
              <a:tr h="633413"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조건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재현율 (%)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오탐률 (%)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F1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Brier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</a:tr>
              <a:tr h="633413"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BASE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97.82 ± 0.99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0.60 ± 0.32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0.9814 ± 0.0056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0.0091 ± 0.0027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3413"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DUP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97.88 ± 0.48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0.44 ± 0.11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0.9837 ± 0.0022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9F0F7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0.0090 ± 0.0016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9F0F7"/>
                    </a:solidFill>
                  </a:tcPr>
                </a:tc>
              </a:tr>
              <a:tr h="633413"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FLIP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97.55 ± 0.85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0.46 ± 0.18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0.9818 ± 0.0049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0.0117 ± 0.0038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DECE6-496F-413E-8B40-2F2F23FC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같은 평가 문자를 5개 시드로 반복 평가했습니다. 표준편차는 신뢰구간이 아닙니다.</a:t>
            </a:r>
          </a:p>
        </p:txBody>
      </p:sp>
    </p:spTree>
    <p:extLst>
      <p:ext uri="{BB962C8B-B14F-4D97-AF65-F5344CB8AC3E}">
        <p14:creationId xmlns:p14="http://schemas.microsoft.com/office/powerpoint/2010/main" val="6499827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ED37F-85DD-43BB-A417-D0CD3058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09  /  하위집단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BF09A-1E2C-4E87-B8C1-921C9A46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URL이 있는 정상 문자에서 오탐률이 더 높았습니다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006D6-0AFE-44C9-800B-9B334E18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AB8C9-7948-4ABF-B117-6D653A21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16485-676E-44F1-A515-614356AA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정상 문자의 오탐률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7B3D3-BAF1-4FBB-B692-D6B17F7B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6524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URL 없음 1,367건 / 있음 298건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85800" y="3095625"/>
          <a:ext xmlns:a="http://schemas.openxmlformats.org/drawingml/2006/main" cx="6324600" cy="2600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a653017c4b445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3D7C8-39C3-4A6D-B689-C1DFB37D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52650"/>
            <a:ext cx="3933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스미싱 재현율 (%)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4A304-9C24-49C0-B725-7E568C69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09850"/>
            <a:ext cx="3933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URL 없음 54건 / 있음 598건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7572375" y="3190875"/>
          <a:ext xmlns:a="http://schemas.openxmlformats.org/drawingml/2006/main" cx="3933825" cy="2314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00125"/>
                <a:gridCol w="1476375"/>
                <a:gridCol w="1457325"/>
              </a:tblGrid>
              <a:tr h="578644">
                <a:tc>
                  <a:txBody>
                    <a:bodyPr lIns="133350" tIns="57150" rIns="133350" bIns="57150"/>
                    <a:lstStyle/>
                    <a:p>
                      <a:r>
                        <a:rPr sz="1650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조건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650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URL 없음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650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URL 있음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</a:tr>
              <a:tr h="578644">
                <a:tc>
                  <a:txBody>
                    <a:bodyPr lIns="133350" tIns="57150" rIns="133350" bIns="57150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BASE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94.44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98.13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8644">
                <a:tc>
                  <a:txBody>
                    <a:bodyPr lIns="133350" tIns="57150" rIns="133350" bIns="57150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DUP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93.33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98.29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578644">
                <a:tc>
                  <a:txBody>
                    <a:bodyPr lIns="133350" tIns="57150" rIns="133350" bIns="57150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FLIP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95.19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57150" rIns="133350" bIns="57150"/>
                    <a:lstStyle/>
                    <a:p>
                      <a:r>
                        <a:rPr sz="165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97.76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DEA10-1ACC-4B7B-8114-DB6CF0E9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두 지표의 분모가 다릅니다. 각 값은 5개 시드의 평균이며, 하위집단 표본 수를 함께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776165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868C13-6DE7-4683-AF35-E22C2769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10  /  연구 판단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16899-A4CB-4AD1-9D4C-8A188547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FLIP 채택을 보류했습니다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9E8E9-535B-4B18-BCB2-73345330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67CED-9D22-43A6-92EF-8A7C371D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8F6F6-F499-48A9-A47B-FEF49271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DUP을 다음 실험의 비교 기준으로 유지합니다.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F72CD-BCE9-4305-AB5E-8E6268AE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F77BB-5274-4DA1-B608-E8D538AF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00425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추가 검증 후 판단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4E3CA-C22F-4199-8CD9-467A4D50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00425"/>
            <a:ext cx="6696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개발 탐색에서 낮아진 FPR이 U5에서 재현되지 않음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B1F95-3A3E-4870-AAF9-9F20A75D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1957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E6CF3-9DE7-409A-97D9-A9C10F05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9CC36-DCDC-4F9A-8123-45A52A9F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24375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사후 규칙 별도 관리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C77A9-EABF-43F0-968B-F7C7704E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24375"/>
            <a:ext cx="6696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Two-track은 개발셋 사후 시뮬레이션</a:t>
            </a:r>
          </a:p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U5에는 적용하지 않음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16D67-3133-41E1-A920-10C0E04D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34352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20EF2-089A-425B-85D9-2CDFCDA2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연구의 다음 조건을 정한 판단입니다. 운영 중인 서비스 모델을 교체한 결과는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5191198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A1C68A-47D6-451F-948B-83ED9545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11  /  재현과 검산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1C786-03ED-4382-8776-E21CDBF9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공개 자료에서 확인할 수 있는 범위를 분명히 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1658E-BF55-4A2E-B356-A314338A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1266B-79DB-47E0-AFC8-404227D4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0821B-771B-4D73-A4BA-4E8E9C4C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DDFE2-4E46-4AD2-9F17-BDE18B01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62175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집계 결과 검산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69812-DFCB-4114-AA3D-09551CFD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62175"/>
            <a:ext cx="6696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공개 JSON과 혼동행렬로 지표를 다시 계산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32373-68EE-4F9D-BF2C-4EFF45E8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98132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D55BD-5902-411E-8975-A0F40A1C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DFDD2-550B-4CCB-87C5-81B92B8B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43275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합성 데이터 테스트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2CEDF-82C6-4765-B923-3DCBCEA4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43275"/>
            <a:ext cx="6696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원문 없이 전처리·URL 특징·검증기의 동작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3067C-C1D9-4F99-89B5-76E21ECF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16242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AE419-E948-4209-8E38-4D32974F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FF29C-F1A7-4DE2-BC8D-8B08D523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24375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재학습은 별도 조건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E6D63-BE70-4686-8088-2F7E6C8E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24375"/>
            <a:ext cx="6696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학습 스크립트는 참고용으로 공개</a:t>
            </a:r>
          </a:p>
          <a:p xmlns:a="http://schemas.openxmlformats.org/drawingml/2006/main">
            <a:pPr>
              <a:def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원데이터와 모델 가중치는 공개본에서 제외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B9C4A7-C539-4E4B-97E8-4C802AF5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343525"/>
            <a:ext cx="1004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7E25F-D425-4183-A413-53803FC0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공개 결과 탐색 데모는 집계를 보여줍니다. 문자를 입력받아 판정하는 서비스가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6149309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28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C5423-4F92-4713-9C10-73E5E150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rPr>
              <a:t>12  /  결론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5242B-D686-4106-855A-278605D0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1501E-090A-45DE-955F-D8BAE3B8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9C4D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01C86-2B44-41A1-8EA7-8D12A0A5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높은 탐지율 다음에는</a:t>
            </a:r>
          </a:p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정상 문자의 오탐을</a:t>
            </a:r>
          </a:p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검증해야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9AF94-8CBF-4B89-BB9D-32B6392A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8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7835B-4221-43F8-B30F-A800D485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3A9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93A9BF"/>
                </a:solidFill>
                <a:latin typeface="Arial Unicode MS"/>
                <a:ea typeface="Arial Unicode MS"/>
                <a:cs typeface="Arial Unicode MS"/>
              </a:rPr>
              <a:t>이번 검증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9153A-EA77-40FB-B7F7-738374E7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562475"/>
            <a:ext cx="8486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URL 교란 학습의 개선이 후속 평가로 이어지지 않음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7D143-4B78-4A6B-A8D5-17D3CA27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3A9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93A9BF"/>
                </a:solidFill>
                <a:latin typeface="Arial Unicode MS"/>
                <a:ea typeface="Arial Unicode MS"/>
                <a:cs typeface="Arial Unicode MS"/>
              </a:rPr>
              <a:t>다음 실험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5F52B-0462-4C01-8766-0CE8FE4E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353050"/>
            <a:ext cx="8486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새 외부 코퍼스 · 정상 URL 표본 확대 · SAS 검증 연결</a:t>
            </a:r>
          </a:p>
        </p:txBody>
      </p:sp>
    </p:spTree>
    <p:extLst>
      <p:ext uri="{BB962C8B-B14F-4D97-AF65-F5344CB8AC3E}">
        <p14:creationId xmlns:p14="http://schemas.microsoft.com/office/powerpoint/2010/main" val="19104875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95B4E-FD5C-47FA-93A2-27F3AF64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APPENDIX  A  /  상세 수치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2E0A8-A00E-4F77-844A-FCD6C1C6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시드별 결과 · 15개 모델 전체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93472-B605-4CA8-8F05-4B4A6D20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42A36-AD16-4EC6-B819-BB223C96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DF380-B1EF-41DC-9C59-A6C1E4FD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Recall = TP/(TP+FN)  ·  FPR = FP/(FP+TN)  ·  Brier = 평균 (p−y)²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23241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1295400"/>
                <a:gridCol w="1695450"/>
                <a:gridCol w="1695450"/>
                <a:gridCol w="1695450"/>
                <a:gridCol w="1695450"/>
                <a:gridCol w="1695450"/>
              </a:tblGrid>
              <a:tr h="244078">
                <a:tc>
                  <a:txBody>
                    <a:bodyPr lIns="133350" tIns="0" rIns="133350" bIns="0"/>
                    <a:lstStyle/>
                    <a:p>
                      <a:r>
                        <a:rPr sz="15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시드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조건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임계값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재현율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오탐률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F1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Brier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</a:tr>
              <a:tr h="244078"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42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BASE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0.0329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96.47%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0.90%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0.9707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0.0142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4078"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42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DUP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0.0251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98.47%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0.48%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0.9862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0.0110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244078"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42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FLIP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0.2482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98.47%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0.54%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0.9854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0.0069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4078"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101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BASE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0.0439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98.77%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0.72%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0.9847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0.0073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244078"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101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DUP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0.0605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98.16%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0.42%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0.9854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0.0079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4078"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101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FLIP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0.0406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97.39%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0.42%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0.9815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0.0146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244078"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BASE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0.3418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96.78%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0.06%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0.9829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0.0088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4078"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DUP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0.9858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97.24%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0.24%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0.9829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0.0068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244078"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FLIP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0.3012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98.16%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0.18%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0.9884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0.0071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4078"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303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BASE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0.8012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98.47%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0.42%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0.9869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0.0063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244078"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303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DUP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0.0221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97.39%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0.54%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0.9799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0.0106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4078"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303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FLIP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0.0574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96.01%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0.42%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0.9743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0.0149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244078"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404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BASE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0.0206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98.62%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0.90%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0.9817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0.0089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4078"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404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DUP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0.0261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98.16%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0.54%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0.9839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0.0086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244078"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404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FLIP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0.0403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97.70%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0.72%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0.9792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0" rIns="133350" bIns="0"/>
                    <a:lstStyle/>
                    <a:p>
                      <a:r>
                        <a:rPr sz="15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0.0147</a:t>
                      </a:r>
                    </a:p>
                  </a:txBody>
                  <a:tcPr marL="133350" marR="133350" marT="0" marB="0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40132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3D201-8E7F-40D0-B55B-E222622F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APPENDIX  B  /  데이터 관리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43DFF-17DF-4E1A-9245-D128E37C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개인정보 처리와 공개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519C9-91F0-45F8-B626-E9C03B6A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0D137-29E2-40AB-8FF3-FCFED41C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2295525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981450"/>
                <a:gridCol w="4505325"/>
              </a:tblGrid>
              <a:tr h="647700">
                <a:tc>
                  <a:txBody>
                    <a:bodyPr lIns="133350" tIns="85725" rIns="133350" bIns="85725"/>
                    <a:lstStyle/>
                    <a:p>
                      <a:r>
                        <a:rPr sz="1800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항목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처리·공개 범위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남은 조건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</a:tr>
              <a:tr h="647700"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연락처·계좌 등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패턴 기반 마스킹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자동 탐지의 미탐 가능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문자 원문·행별 예측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공개본에서 제외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원데이터 재현은 별도 승인 필요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647700"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모델 가중치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공개본에서 제외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공개 데모는 집계 결과만 탐색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사람 검수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완료 상태를 별도 기록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00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전수 검수 완료로 표현하지 않음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8EB24-E0A0-4433-B708-AFB0C675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출처·권리: docs/PROVENANCE.md  ·  해석 한계: docs/LIMITATIONS.md</a:t>
            </a:r>
          </a:p>
        </p:txBody>
      </p:sp>
    </p:spTree>
    <p:extLst>
      <p:ext uri="{BB962C8B-B14F-4D97-AF65-F5344CB8AC3E}">
        <p14:creationId xmlns:p14="http://schemas.microsoft.com/office/powerpoint/2010/main" val="20447678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4FC6E-14A4-49F7-A150-319A12FD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APPENDIX  C  /  연구 한계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8C0D6-5594-4FB4-9A15-AB0AC114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후속 평가의 해석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78790-5D5B-4158-BA8C-3D1E3660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AF848-7ED6-4D5F-B18A-B7C8ABA3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2247900"/>
          <a:ext xmlns:a="http://schemas.openxmlformats.org/drawingml/2006/main" cx="10820400" cy="3438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57450"/>
                <a:gridCol w="8362950"/>
              </a:tblGrid>
              <a:tr h="573088"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항목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현재 상태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</a:tr>
              <a:tr h="573088"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평가 독립성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원래 test 분할에는 과거 모델 평가에 사용된 이력이 있음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3088"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가중치 연속성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09-17 가중치를 보존하지 못해 새 가중치로 재학습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573088"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실행 재현성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Apple Silicon MPS 실행 · 비트 단위 동일성은 보장하지 않음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3088"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정상 URL 표본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298건으로 규모가 작아 추가 표본 필요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573088"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전처리 차이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학습과 평가 데이터의 이름 토큰 마스킹 수준 차이 존재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45839-B037-4909-B552-7D167795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새 외부 코퍼스와 통일된 전처리 조건에서 추가 검증이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2204771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64F8F-C3D9-4FD5-9D5A-F7F6FE5D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APPENDIX  D  /  분석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7E567-CEB0-4336-B232-99B2D6A8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SAS 분석과 사후 시뮬레이션을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C88BE-4334-47AD-B2CB-FF8A1335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AF266-1E19-4700-B710-5A58B065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2276475"/>
          <a:ext xmlns:a="http://schemas.openxmlformats.org/drawingml/2006/main" cx="108204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4667250"/>
                <a:gridCol w="4676775"/>
              </a:tblGrid>
              <a:tr h="802481"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구분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SAS 분석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1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Two-track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E8EDF2"/>
                    </a:solidFill>
                  </a:tcPr>
                </a:tc>
              </a:tr>
              <a:tr h="802481"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입력·평가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메타 학습: OOF 예측</a:t>
                      </a:r>
                    </a:p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 비교: test 점수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개발 탐색 1,750건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2481"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방법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PROC LOGISTIC 기반 결합·비교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개발 결과를 보고 만든 사후 규칙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5715">
                      <a:solidFill>
                        <a:srgbClr val="D9E0E6"/>
                      </a:solidFill>
                    </a:lnB>
                    <a:solidFill>
                      <a:srgbClr val="F4F6F8"/>
                    </a:solidFill>
                  </a:tcPr>
                </a:tc>
              </a:tr>
              <a:tr h="802481"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해석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결합 모형의 차이 미검출</a:t>
                      </a:r>
                    </a:p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동등성을 증명한 결과는 아님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85725" rIns="133350" bIns="85725"/>
                    <a:lstStyle/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U5에 적용하지 않음</a:t>
                      </a:r>
                    </a:p>
                    <a:p>
                      <a:r>
                        <a:rPr sz="1875" b="0">
                          <a:solidFill>
                            <a:srgbClr val="14283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본편 확증 성과에 포함하지 않음</a:t>
                      </a:r>
                    </a:p>
                  </a:txBody>
                  <a:tcPr marL="133350" marR="133350" marT="85725" marB="85725" anchor="ctr">
                    <a:lnL w="0">
                      <a:noFill/>
                    </a:lnL>
                    <a:lnR w="0">
                      <a:noFill/>
                    </a:lnR>
                    <a:lnT w="5715">
                      <a:solidFill>
                        <a:srgbClr val="D9E0E6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35106-1B07-44E6-8D0F-CD41F201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이전 SAS 실행 결과와 이번 Python/MPS U5 후속 평가는 별도 실행입니다.</a:t>
            </a:r>
          </a:p>
        </p:txBody>
      </p:sp>
    </p:spTree>
    <p:extLst>
      <p:ext uri="{BB962C8B-B14F-4D97-AF65-F5344CB8AC3E}">
        <p14:creationId xmlns:p14="http://schemas.microsoft.com/office/powerpoint/2010/main" val="19632898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4D921-7D70-4440-95A4-F544F276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APPENDIX  E  /  실행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ED8D7-F8B5-4138-B639-A31E16A0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질의응답 · 공개본에서 바로 확인하기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7D31A-310C-4C92-BB3C-A2476ED8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ScamLens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C33AD-8E6D-45C7-ACDD-FFCD631E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62F25-D3EB-4AA8-BD03-0A367582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428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결과 재검산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D6C68-796D-4BBC-87A0-5AC94754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76475"/>
            <a:ext cx="8172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python3 scripts/verify_public_results.py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3C045-5EC3-4958-A492-9102B310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76748-A412-4F5A-B4BF-384F587B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52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합성 데이터 테스트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CFBA3-DCD6-4BB0-B0B0-A84E8C86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05175"/>
            <a:ext cx="8172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python3 -m unittest discover -s tests -v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6F727-CBAF-48D0-91AD-756BF0A4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9E75C-47E8-4BF2-A53F-B8AA6EF9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집계 탐색 데모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4FD53-B443-4A73-BDA2-CBD7D251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8172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python3 demo/result_explorer.py --summary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B2ADB-E7CE-48AB-8803-C6529584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5729E3-7412-4F43-815C-DB8198A1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326DA3"/>
                </a:solidFill>
                <a:latin typeface="Arial Unicode MS"/>
                <a:ea typeface="Arial Unicode MS"/>
                <a:cs typeface="Arial Unicode MS"/>
              </a:rPr>
              <a:t>근거 자료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2ED9A-C32C-4214-82F7-E88F6DB4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62575"/>
            <a:ext cx="8172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42839"/>
                </a:solidFill>
                <a:latin typeface="Arial Unicode MS"/>
                <a:ea typeface="Arial Unicode MS"/>
                <a:cs typeface="Arial Unicode MS"/>
              </a:rPr>
              <a:t>data/public_results/   reports/   docs/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8DFCCB-36E2-4B0B-B9B7-B33ECCA2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E6D79"/>
                </a:solidFill>
                <a:latin typeface="Arial Unicode MS"/>
                <a:ea typeface="Arial Unicode MS"/>
                <a:cs typeface="Arial Unicode MS"/>
              </a:rPr>
              <a:t>모든 명령은 공개 배포 폴더 scamlens/를 기준으로 실행합니다.</a:t>
            </a:r>
          </a:p>
        </p:txBody>
      </p:sp>
    </p:spTree>
    <p:extLst>
      <p:ext uri="{BB962C8B-B14F-4D97-AF65-F5344CB8AC3E}">
        <p14:creationId xmlns:p14="http://schemas.microsoft.com/office/powerpoint/2010/main" val="855356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2026-09-19T15:09:53.1470000Z</dcterms:created>
  <dcterms:modified xsi:type="dcterms:W3CDTF">2026-09-19T15:09:53.1470000Z</dcterms:modified>
</coreProperties>
</file>