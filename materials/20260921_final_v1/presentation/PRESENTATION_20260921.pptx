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54a1ccead4228" /><Relationship Type="http://schemas.openxmlformats.org/officeDocument/2006/relationships/extended-properties" Target="/docProps/app.xml" Id="R0aeaefe1a38643e6" /><Relationship Type="http://schemas.openxmlformats.org/officeDocument/2006/relationships/officeDocument" Target="/ppt/presentation.xml" Id="Rbcc5c050be79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4913e81904563"/>
  </p:sldMasterIdLst>
  <p:notesMasterIdLst>
    <p:notesMasterId xmlns:r="http://schemas.openxmlformats.org/officeDocument/2006/relationships" r:id="R4a175acb466b4034"/>
  </p:notesMasterIdLst>
  <p:sldIdLst>
    <p:sldId xmlns:r="http://schemas.openxmlformats.org/officeDocument/2006/relationships" id="256" r:id="Ra54cb71724ed42dc"/>
    <p:sldId xmlns:r="http://schemas.openxmlformats.org/officeDocument/2006/relationships" id="257" r:id="Rf97509a05ffa4ac7"/>
    <p:sldId xmlns:r="http://schemas.openxmlformats.org/officeDocument/2006/relationships" id="258" r:id="Ra028f49e90e74535"/>
    <p:sldId xmlns:r="http://schemas.openxmlformats.org/officeDocument/2006/relationships" id="259" r:id="R41095f02ced04f06"/>
    <p:sldId xmlns:r="http://schemas.openxmlformats.org/officeDocument/2006/relationships" id="260" r:id="R72cb11954fda457a"/>
    <p:sldId xmlns:r="http://schemas.openxmlformats.org/officeDocument/2006/relationships" id="261" r:id="R00ff271d64114ee6"/>
    <p:sldId xmlns:r="http://schemas.openxmlformats.org/officeDocument/2006/relationships" id="262" r:id="Rfb987ce71f454f64"/>
    <p:sldId xmlns:r="http://schemas.openxmlformats.org/officeDocument/2006/relationships" id="263" r:id="Rb993cdabf63549ff"/>
    <p:sldId xmlns:r="http://schemas.openxmlformats.org/officeDocument/2006/relationships" id="264" r:id="R7c9e102bf51841aa"/>
    <p:sldId xmlns:r="http://schemas.openxmlformats.org/officeDocument/2006/relationships" id="265" r:id="R1bbae410b0b345b6"/>
    <p:sldId xmlns:r="http://schemas.openxmlformats.org/officeDocument/2006/relationships" id="266" r:id="R7e7e8707463d405f"/>
    <p:sldId xmlns:r="http://schemas.openxmlformats.org/officeDocument/2006/relationships" id="267" r:id="R86a636db7f184233"/>
    <p:sldId xmlns:r="http://schemas.openxmlformats.org/officeDocument/2006/relationships" id="268" r:id="R1c04fd2f3c0d4f39"/>
    <p:sldId xmlns:r="http://schemas.openxmlformats.org/officeDocument/2006/relationships" id="269" r:id="R9dc953a9b8b748cd"/>
    <p:sldId xmlns:r="http://schemas.openxmlformats.org/officeDocument/2006/relationships" id="270" r:id="Ra0b656ca343949a2"/>
    <p:sldId xmlns:r="http://schemas.openxmlformats.org/officeDocument/2006/relationships" id="271" r:id="R567fb43915c448d3"/>
    <p:sldId xmlns:r="http://schemas.openxmlformats.org/officeDocument/2006/relationships" id="272" r:id="R8977d9c88f984f75"/>
    <p:sldId xmlns:r="http://schemas.openxmlformats.org/officeDocument/2006/relationships" id="273" r:id="Rf143f60470b04a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b3ec92e6e74a19" /><Relationship Type="http://schemas.openxmlformats.org/officeDocument/2006/relationships/slideMaster" Target="/ppt/slideMasters/slideMaster1.xml" Id="R9b14913e81904563" /><Relationship Type="http://schemas.openxmlformats.org/officeDocument/2006/relationships/notesMaster" Target="/ppt/notesMasters/notesMaster1.xml" Id="R4a175acb466b4034" /><Relationship Type="http://schemas.openxmlformats.org/officeDocument/2006/relationships/presProps" Target="/ppt/presProps.xml" Id="Rb6df24f11c6646fc" /><Relationship Type="http://schemas.openxmlformats.org/officeDocument/2006/relationships/tableStyles" Target="/ppt/tableStyles.xml" Id="Ra4aeb082ba804ae9" /><Relationship Type="http://schemas.openxmlformats.org/officeDocument/2006/relationships/slide" Target="/ppt/slides/slide1.xml" Id="Ra54cb71724ed42dc" /><Relationship Type="http://schemas.openxmlformats.org/officeDocument/2006/relationships/slide" Target="/ppt/slides/slide2.xml" Id="Rf97509a05ffa4ac7" /><Relationship Type="http://schemas.openxmlformats.org/officeDocument/2006/relationships/slide" Target="/ppt/slides/slide3.xml" Id="Ra028f49e90e74535" /><Relationship Type="http://schemas.openxmlformats.org/officeDocument/2006/relationships/slide" Target="/ppt/slides/slide4.xml" Id="R41095f02ced04f06" /><Relationship Type="http://schemas.openxmlformats.org/officeDocument/2006/relationships/slide" Target="/ppt/slides/slide5.xml" Id="R72cb11954fda457a" /><Relationship Type="http://schemas.openxmlformats.org/officeDocument/2006/relationships/slide" Target="/ppt/slides/slide6.xml" Id="R00ff271d64114ee6" /><Relationship Type="http://schemas.openxmlformats.org/officeDocument/2006/relationships/slide" Target="/ppt/slides/slide7.xml" Id="Rfb987ce71f454f64" /><Relationship Type="http://schemas.openxmlformats.org/officeDocument/2006/relationships/slide" Target="/ppt/slides/slide8.xml" Id="Rb993cdabf63549ff" /><Relationship Type="http://schemas.openxmlformats.org/officeDocument/2006/relationships/slide" Target="/ppt/slides/slide9.xml" Id="R7c9e102bf51841aa" /><Relationship Type="http://schemas.openxmlformats.org/officeDocument/2006/relationships/slide" Target="/ppt/slides/slide10.xml" Id="R1bbae410b0b345b6" /><Relationship Type="http://schemas.openxmlformats.org/officeDocument/2006/relationships/slide" Target="/ppt/slides/slide11.xml" Id="R7e7e8707463d405f" /><Relationship Type="http://schemas.openxmlformats.org/officeDocument/2006/relationships/slide" Target="/ppt/slides/slide12.xml" Id="R86a636db7f184233" /><Relationship Type="http://schemas.openxmlformats.org/officeDocument/2006/relationships/slide" Target="/ppt/slides/slide13.xml" Id="R1c04fd2f3c0d4f39" /><Relationship Type="http://schemas.openxmlformats.org/officeDocument/2006/relationships/slide" Target="/ppt/slides/slide14.xml" Id="R9dc953a9b8b748cd" /><Relationship Type="http://schemas.openxmlformats.org/officeDocument/2006/relationships/slide" Target="/ppt/slides/slide15.xml" Id="Ra0b656ca343949a2" /><Relationship Type="http://schemas.openxmlformats.org/officeDocument/2006/relationships/slide" Target="/ppt/slides/slide16.xml" Id="R567fb43915c448d3" /><Relationship Type="http://schemas.openxmlformats.org/officeDocument/2006/relationships/slide" Target="/ppt/slides/slide17.xml" Id="R8977d9c88f984f75" /><Relationship Type="http://schemas.openxmlformats.org/officeDocument/2006/relationships/slide" Target="/ppt/slides/slide18.xml" Id="Rf143f60470b0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9e0ef0eab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7dfa595e54e8f" /><Relationship Type="http://schemas.openxmlformats.org/officeDocument/2006/relationships/notesMaster" Target="/ppt/notesMasters/notesMaster1.xml" Id="R9df7b41c2a10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85c544862457d" /><Relationship Type="http://schemas.openxmlformats.org/officeDocument/2006/relationships/notesMaster" Target="/ppt/notesMasters/notesMaster1.xml" Id="Rcf2c7a7ed8a8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c15bc5b904abd" /><Relationship Type="http://schemas.openxmlformats.org/officeDocument/2006/relationships/notesMaster" Target="/ppt/notesMasters/notesMaster1.xml" Id="Rf5d7ce2fa3c34e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b76979c944bfb" /><Relationship Type="http://schemas.openxmlformats.org/officeDocument/2006/relationships/notesMaster" Target="/ppt/notesMasters/notesMaster1.xml" Id="R0d98c101176f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5a997d9c21455b" /><Relationship Type="http://schemas.openxmlformats.org/officeDocument/2006/relationships/notesMaster" Target="/ppt/notesMasters/notesMaster1.xml" Id="R779cc27249bc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fdaee8e3d74808" /><Relationship Type="http://schemas.openxmlformats.org/officeDocument/2006/relationships/notesMaster" Target="/ppt/notesMasters/notesMaster1.xml" Id="Rce66dde09a0348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320083524c46f4" /><Relationship Type="http://schemas.openxmlformats.org/officeDocument/2006/relationships/notesMaster" Target="/ppt/notesMasters/notesMaster1.xml" Id="Rf27c046c8d7545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6b76e740024cec" /><Relationship Type="http://schemas.openxmlformats.org/officeDocument/2006/relationships/notesMaster" Target="/ppt/notesMasters/notesMaster1.xml" Id="R0ebd59ed642e43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b0cbdfc3cc488e" /><Relationship Type="http://schemas.openxmlformats.org/officeDocument/2006/relationships/notesMaster" Target="/ppt/notesMasters/notesMaster1.xml" Id="R8853401b5e01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7a3d3cdd84fd2" /><Relationship Type="http://schemas.openxmlformats.org/officeDocument/2006/relationships/notesMaster" Target="/ppt/notesMasters/notesMaster1.xml" Id="R7edd4fe040f04a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566c5f315345c7" /><Relationship Type="http://schemas.openxmlformats.org/officeDocument/2006/relationships/notesMaster" Target="/ppt/notesMasters/notesMaster1.xml" Id="R640098ffb05f41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3f3a071df444d" /><Relationship Type="http://schemas.openxmlformats.org/officeDocument/2006/relationships/notesMaster" Target="/ppt/notesMasters/notesMaster1.xml" Id="Rec78d9fb0dcb43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55202234774d6a" /><Relationship Type="http://schemas.openxmlformats.org/officeDocument/2006/relationships/notesMaster" Target="/ppt/notesMasters/notesMaster1.xml" Id="R90086c18075b43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d5404fe35547ee" /><Relationship Type="http://schemas.openxmlformats.org/officeDocument/2006/relationships/notesMaster" Target="/ppt/notesMasters/notesMaster1.xml" Id="Rd34dc2c12a5e48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edec58ce724ec6" /><Relationship Type="http://schemas.openxmlformats.org/officeDocument/2006/relationships/notesMaster" Target="/ppt/notesMasters/notesMaster1.xml" Id="Re79779e78ecc40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33967af6074934" /><Relationship Type="http://schemas.openxmlformats.org/officeDocument/2006/relationships/notesMaster" Target="/ppt/notesMasters/notesMaster1.xml" Id="Rb92d667851d84f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f77dbe09144e6c" /><Relationship Type="http://schemas.openxmlformats.org/officeDocument/2006/relationships/notesMaster" Target="/ppt/notesMasters/notesMaster1.xml" Id="R5c390dff1bb545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7a6dfd618040dc" /><Relationship Type="http://schemas.openxmlformats.org/officeDocument/2006/relationships/notesMaster" Target="/ppt/notesMasters/notesMaster1.xml" Id="Rb8e00ecebe4a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제목. 정상 문자를 지키는 스미싱 탐지 검증. 집계 재검증과 입력 개입 진단의 최종 발표.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45초</a:t>
            </a:r>
          </a:p>
          <a:p xmlns:a="http://schemas.openxmlformats.org/drawingml/2006/main">
            <a:r>
              <a:t>- 15m 경로: 45초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reports/generated/submission_final_20260921.json</a:t>
            </a:r>
          </a:p>
          <a:p xmlns:a="http://schemas.openxmlformats.org/drawingml/2006/main">
            <a:r>
              <a:t>docs/SCAMLENS_RESULTS_INTERPRETATION_20260921.md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질문: 정상 문자 경보를 늘리지 않으면서 미탐을 줄이려면 무엇을 검증해야 하는가. 오탐 통제와 재현성을 함께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60초</a:t>
            </a:r>
          </a:p>
          <a:p xmlns:a="http://schemas.openxmlformats.org/drawingml/2006/main">
            <a:r>
              <a:t>- 15m 경로: 60초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reports/generated/submission_final_20260921.json</a:t>
            </a:r>
          </a:p>
          <a:p xmlns:a="http://schemas.openxmlformats.org/drawingml/2006/main">
            <a:r>
              <a:t>docs/SCAMLENS_RESULTS_INTERPRETATION_20260921.md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역할과 코호트: U5 2317건은 과거 평가 이력 있음. KISA 22건 양성, 정상 후보 250건 개발용. JEV 88건 과대표집, 결합 142건 탐색.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55초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reports/generated/u5_error_diagnostics_20260920.json</a:t>
            </a:r>
          </a:p>
          <a:p xmlns:a="http://schemas.openxmlformats.org/drawingml/2006/main">
            <a:r>
              <a:t>reports/generated/kisa_ocr_diagnostics_20260921.json</a:t>
            </a:r>
          </a:p>
          <a:p xmlns:a="http://schemas.openxmlformats.org/drawingml/2006/main">
            <a:r>
              <a:t>reports/generated/jev_kcbert_redacted_20260920.json</a:t>
            </a:r>
          </a:p>
          <a:p xmlns:a="http://schemas.openxmlformats.org/drawingml/2006/main">
            <a:r>
              <a:t>reports/generated/jev_kcbert_fusion_20260920.json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오프라인 문자열 분석만 사용. 유사 그룹 관리. 임계값 사전 고정 후 모든 조건 동일 적용.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reports/generated/submission_final_20260921.json</a:t>
            </a:r>
          </a:p>
          <a:p xmlns:a="http://schemas.openxmlformats.org/drawingml/2006/main">
            <a:r>
              <a:t>docs/SCAMLENS_RESULTS_INTERPRETATION_20260921.md</a:t>
            </a:r>
          </a:p>
          <a:p xmlns:a="http://schemas.openxmlformats.org/drawingml/2006/main">
            <a:r>
              <a:t>reports/generated/kisa_ocr_diagnostics_20260921.json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BASE·DUP·FLIP 3조건 5시드. FLIP은 정답 라벨 유지 URL 편집이며 라벨 반전이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70초</a:t>
            </a:r>
          </a:p>
          <a:p xmlns:a="http://schemas.openxmlformats.org/drawingml/2006/main">
            <a:r>
              <a:t>- 15m 경로: 70초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reports/generated/submission_final_20260921.json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사전 SAS OOF 메타 분석과 U5는 별개 실행. AUC 차이 미검출이며 동등성 증명이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reports/generated/submission_final_20260921.json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U5 5시드 평균. DUP 평균이 가장 낮았으나 통계적 우월 확정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80초</a:t>
            </a:r>
          </a:p>
          <a:p xmlns:a="http://schemas.openxmlformats.org/drawingml/2006/main">
            <a:r>
              <a:t>- 15m 경로: 70초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reports/generated/u5_error_diagnostics_20260920.json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 있는 정상 집단의 평균 오탐률이 높았다. 연관 관찰이며 단일 원인 확정 아님. 분모를 함께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70초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128토큰 초과 스미싱에 미탐이 집중됐다. 절단 단일 원인 확정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reports/generated/u5_error_diagnostics_20260920.json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시드 42. 고유 22건 중 13건 탐지. 대표 18건은 부분집합이라 합산하지 않음. 소표본 일반화 금지.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60초</a:t>
            </a:r>
          </a:p>
          <a:p xmlns:a="http://schemas.openxmlformats.org/drawingml/2006/main">
            <a:r>
              <a:t>- 15m 경로: 60초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reports/generated/kisa_ocr_diagnostics_20260921.json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7개 입력 조건의 탐지와 정상 경보를 함께 본다. 사후 승자 교체 없음. 일부 복구는 탐색적 관찰.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90초</a:t>
            </a:r>
          </a:p>
          <a:p xmlns:a="http://schemas.openxmlformats.org/drawingml/2006/main">
            <a:r>
              <a:t>- 15m 경로: 90초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reports/generated/kisa_ocr_diagnostics_20260921.json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자동 대체와 특징 결합은 별개 실험. 대체는 해소 8건 대비 신규 41건으로 미채택. 결합은 이득 입증 여지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80초</a:t>
            </a:r>
          </a:p>
          <a:p xmlns:a="http://schemas.openxmlformats.org/drawingml/2006/main">
            <a:r>
              <a:t>- 15m 경로: 90초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reports/generated/jev_kcbert_redacted_20260920.json</a:t>
            </a:r>
          </a:p>
          <a:p xmlns:a="http://schemas.openxmlformats.org/drawingml/2006/main">
            <a:r>
              <a:t>reports/generated/jev_kcbert_fusion_20260920.json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조건과 고정 임계값을 유지. 사전 후보 head_tail128은 5개 시드 모두 불통과.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60초</a:t>
            </a:r>
          </a:p>
          <a:p xmlns:a="http://schemas.openxmlformats.org/drawingml/2006/main">
            <a:r>
              <a:t>- 15m 경로: 60초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reports/generated/kisa_ocr_diagnostics_20260921.json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집계 반환 4단계 검증 완료. 새 Studio 발표용 그림과 VA 대시보드는 사용자 서버 실행 대기. 실제 가동 주장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60초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reports/generated/kisa_followup_completion_20260921.json</a:t>
            </a:r>
          </a:p>
          <a:p xmlns:a="http://schemas.openxmlformats.org/drawingml/2006/main">
            <a:r>
              <a:t>reports/generated/submission_final_20260921.json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과정이 성과이며 실서비스 효능이 아님. 실패한 시도와 오탐 증가도 그대로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55초</a:t>
            </a:r>
          </a:p>
          <a:p xmlns:a="http://schemas.openxmlformats.org/drawingml/2006/main">
            <a:r>
              <a:t>- 15m 경로: 70초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docs/SCAMLENS_RESULTS_INTERPRETATION_20260921.md</a:t>
            </a:r>
          </a:p>
          <a:p xmlns:a="http://schemas.openxmlformats.org/drawingml/2006/main">
            <a:r>
              <a:t>reports/generated/submission_final_20260921.json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조건 상세와 시드 한계. KISA 진단은 동일 자료 재사용 사후 진단.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reports/generated/kisa_ocr_diagnostics_20260921.json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지표 정의와 분모 원칙. 자료·독립성 한계. 반복 조회로 규칙을 맞춘 성과로 제시하지 않음.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reports/generated/u5_error_diagnostics_20260920.json</a:t>
            </a:r>
          </a:p>
          <a:p xmlns:a="http://schemas.openxmlformats.org/drawingml/2006/main">
            <a:r>
              <a:t>docs/SCAMLENS_RESULTS_INTERPRETATION_20260921.md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증거와 재생성. 모든 수치는 정본 JSON에서 계산. 새 추론·API·학습·임계값 조정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 / 15분 / 20분)]</a:t>
            </a:r>
          </a:p>
          <a:p xmlns:a="http://schemas.openxmlformats.org/drawingml/2006/main">
            <a:r>
              <a:t>- 10m 경로: 건너뜀</a:t>
            </a:r>
          </a:p>
          <a:p xmlns:a="http://schemas.openxmlformats.org/drawingml/2006/main">
            <a:r>
              <a:t>- 15m 경로: 건너뜀</a:t>
            </a:r>
          </a:p>
          <a:p xmlns:a="http://schemas.openxmlformats.org/drawingml/2006/main">
            <a:r>
              <a:t>- 20m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reports/generated/submission_final_20260921.json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6b0480cff44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edf2cdf8644fc" /><Relationship Type="http://schemas.openxmlformats.org/officeDocument/2006/relationships/slideLayout" Target="/ppt/slideLayouts/slideLayout1.xml" Id="R97bcefc03c8246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cefc03c8246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bd49f933d4d34" /><Relationship Type="http://schemas.openxmlformats.org/officeDocument/2006/relationships/notesSlide" Target="/ppt/notesSlides/notesSlide1.xml" Id="Re78fa21869ca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210a96e8d4a43" /><Relationship Type="http://schemas.openxmlformats.org/officeDocument/2006/relationships/notesSlide" Target="/ppt/notesSlides/notesSlide2.xml" Id="R78b04457b2b9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92886450f4bc3" /><Relationship Type="http://schemas.openxmlformats.org/officeDocument/2006/relationships/notesSlide" Target="/ppt/notesSlides/notesSlide3.xml" Id="R90428edc997f41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c9fbe45d47a2" /><Relationship Type="http://schemas.openxmlformats.org/officeDocument/2006/relationships/notesSlide" Target="/ppt/notesSlides/notesSlide4.xml" Id="Re1854039b4b1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ad10c74fa4584" /><Relationship Type="http://schemas.openxmlformats.org/officeDocument/2006/relationships/notesSlide" Target="/ppt/notesSlides/notesSlide5.xml" Id="Rb0f4928827aa49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1a16700db419a" /><Relationship Type="http://schemas.openxmlformats.org/officeDocument/2006/relationships/notesSlide" Target="/ppt/notesSlides/notesSlide6.xml" Id="R3478d14ff72c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058ac2581484e" /><Relationship Type="http://schemas.openxmlformats.org/officeDocument/2006/relationships/notesSlide" Target="/ppt/notesSlides/notesSlide7.xml" Id="R330653ed911e4e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cc01468f84500" /><Relationship Type="http://schemas.openxmlformats.org/officeDocument/2006/relationships/chart" Target="/ppt/slides/charts/chart1.xml" Id="R95e9363dea2f4da6" /><Relationship Type="http://schemas.openxmlformats.org/officeDocument/2006/relationships/notesSlide" Target="/ppt/notesSlides/notesSlide8.xml" Id="R4a98308758d1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94cb6423e4672" /><Relationship Type="http://schemas.openxmlformats.org/officeDocument/2006/relationships/chart" Target="/ppt/slides/charts/chart2.xml" Id="Ra61778f47e5b4a59" /><Relationship Type="http://schemas.openxmlformats.org/officeDocument/2006/relationships/notesSlide" Target="/ppt/notesSlides/notesSlide9.xml" Id="R084e82bcd546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2f94a89b4881" /><Relationship Type="http://schemas.openxmlformats.org/officeDocument/2006/relationships/notesSlide" Target="/ppt/notesSlides/notesSlide10.xml" Id="R30991c1abdf34a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318cd2f4a4fcf" /><Relationship Type="http://schemas.openxmlformats.org/officeDocument/2006/relationships/notesSlide" Target="/ppt/notesSlides/notesSlide11.xml" Id="Re7215e0b167044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de4092b664402" /><Relationship Type="http://schemas.openxmlformats.org/officeDocument/2006/relationships/notesSlide" Target="/ppt/notesSlides/notesSlide12.xml" Id="Rd5c5cece66394e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94a0a07b4939" /><Relationship Type="http://schemas.openxmlformats.org/officeDocument/2006/relationships/notesSlide" Target="/ppt/notesSlides/notesSlide13.xml" Id="Rf87d2af6cb6940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83e5abb314bf0" /><Relationship Type="http://schemas.openxmlformats.org/officeDocument/2006/relationships/notesSlide" Target="/ppt/notesSlides/notesSlide14.xml" Id="R5f02cadb8dbd45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d55e7fe5040ca" /><Relationship Type="http://schemas.openxmlformats.org/officeDocument/2006/relationships/notesSlide" Target="/ppt/notesSlides/notesSlide15.xml" Id="R25525099ce9f4d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3e5308b54229" /><Relationship Type="http://schemas.openxmlformats.org/officeDocument/2006/relationships/notesSlide" Target="/ppt/notesSlides/notesSlide16.xml" Id="Rfae1ad72b5f741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2df811ab441f3" /><Relationship Type="http://schemas.openxmlformats.org/officeDocument/2006/relationships/notesSlide" Target="/ppt/notesSlides/notesSlide17.xml" Id="R27fd0c3748204c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abcd8c2d443e3" /><Relationship Type="http://schemas.openxmlformats.org/officeDocument/2006/relationships/notesSlide" Target="/ppt/notesSlides/notesSlide18.xml" Id="R2116d27b821e482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BCC6CF"/>
            </a:solidFill>
          </c:spPr>
          <c:cat>
            <c:strRef>
              <c:f>'Chart Data'!$A$2:$A$3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0.002195</c:v>
                </c:pt>
                <c:pt idx="1">
                  <c:v>0.02349</c:v>
                </c:pt>
              </c:numCache>
            </c:numRef>
          </c:val>
        </c:ser>
        <c:ser>
          <c:idx val="1"/>
          <c:order val="1"/>
          <c:tx>
            <c:v>DUP</c:v>
          </c:tx>
          <c:spPr>
            <a:solidFill xmlns:a="http://schemas.openxmlformats.org/drawingml/2006/main">
              <a:srgbClr val="8192A3"/>
            </a:solidFill>
          </c:spPr>
          <c:cat>
            <c:strRef>
              <c:f>'Chart Data'!$C$2:$C$3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0.001024</c:v>
                </c:pt>
                <c:pt idx="1">
                  <c:v>0.020134</c:v>
                </c:pt>
              </c:numCache>
            </c:numRef>
          </c:val>
        </c:ser>
        <c:ser>
          <c:idx val="2"/>
          <c:order val="2"/>
          <c:tx>
            <c:v>FLIP</c:v>
          </c:tx>
          <c:spPr>
            <a:solidFill xmlns:a="http://schemas.openxmlformats.org/drawingml/2006/main">
              <a:srgbClr val="326DA3"/>
            </a:solidFill>
          </c:spPr>
          <c:cat>
            <c:strRef>
              <c:f>'Chart Data'!$E$2:$E$3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Data'!$F$2:$F$3</c:f>
              <c:numCache>
                <c:formatCode>0.00%</c:formatCode>
                <c:ptCount val="2"/>
                <c:pt idx="0">
                  <c:v>0.000878</c:v>
                </c:pt>
                <c:pt idx="1">
                  <c:v>0.021477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839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02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0E6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00833333333333333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839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미탐률</c:v>
          </c:tx>
          <c:spPr>
            <a:solidFill xmlns:a="http://schemas.openxmlformats.org/drawingml/2006/main">
              <a:srgbClr val="326DA3"/>
            </a:solidFill>
          </c:spPr>
          <c:cat>
            <c:strRef>
              <c:f>'Chart Data'!$A$2:$A$3</c:f>
              <c:strCache>
                <c:ptCount val="2"/>
                <c:pt idx="0">
                  <c:v>한도 이내</c:v>
                </c:pt>
                <c:pt idx="1">
                  <c:v>한도 초과·절단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0.007059</c:v>
                </c:pt>
                <c:pt idx="1">
                  <c:v>0.168421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839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0E6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06666666666666667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839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44795-31C4-47DD-B4A3-96503D3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  /  FINAL 2026-09-21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32507-F798-48E2-B498-61233DAD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42CF-1D11-4C8F-9325-E701DB10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9170-8AEA-4BBE-AB52-081E031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정상 문자를 지키는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스미싱 탐지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03ECA-6038-4F67-B011-EE853D1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EED24-4C52-493F-829F-B59F443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AD4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AD4DE"/>
                </a:solidFill>
                <a:latin typeface="Arial Unicode MS"/>
                <a:ea typeface="Arial Unicode MS"/>
                <a:cs typeface="Arial Unicode MS"/>
              </a:rPr>
              <a:t>집계 재검증과 입력 개입 진단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18F58-CE05-4074-B40C-F11CE15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기존 평가 · KISA 외부 진단 · JEV 실험 · SAS 검증</a:t>
            </a:r>
          </a:p>
        </p:txBody>
      </p:sp>
    </p:spTree>
    <p:extLst>
      <p:ext uri="{BB962C8B-B14F-4D97-AF65-F5344CB8AC3E}">
        <p14:creationId xmlns:p14="http://schemas.microsoft.com/office/powerpoint/2010/main" val="172217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4F62-135D-4587-A1AD-7ACA96D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01  /  연구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8EC6A-D5D2-4385-BBC5-43729C2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정상 경보와 미탐을 함께 검증합니다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8C8F8-0CF0-4D01-9716-2F09A98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2514-91AC-429C-BAB7-7A739F3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88753-0406-4486-B7EB-F4217FA2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정상 문자의 오탐을 줄이면서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33A44-2D5E-4028-941D-4B63141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스미싱을 정밀하게 탐지하려면 무엇을 검증해야 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1E173-42C4-4DC8-9949-A490B8B5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3069A-A8B5-413E-A3F2-6B02932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오탐 통제: 정상 문자를 스미싱으로 잘못 판단하지 않는지 본다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미탐 점검: 스미싱을 정상으로 놓치지 않는지 본다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재현성: 같은 집계에서 다시 계산해도 같은 수치인지 확인한다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4797B-29E1-4910-90D0-85318750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악성 탐지율보다 정상 사용자 오탐 통제와 후속 평가 재현성을 검증하는 연구다.</a:t>
            </a:r>
          </a:p>
        </p:txBody>
      </p:sp>
    </p:spTree>
    <p:extLst>
      <p:ext uri="{BB962C8B-B14F-4D97-AF65-F5344CB8AC3E}">
        <p14:creationId xmlns:p14="http://schemas.microsoft.com/office/powerpoint/2010/main" val="1920487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FFB68-6275-45B2-A2A1-81C41233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02  /  평가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55FE6-27F5-49C0-A1FA-986F0DA7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각 평가는 역할이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210DB-11F2-46C6-8270-3878FA07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1C04A-3D91-4271-BA64-A45C0192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667000"/>
                <a:gridCol w="1714500"/>
                <a:gridCol w="4533900"/>
              </a:tblGrid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자료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규모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해석 범위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기존 U5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과거 평가 이력 있음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2,317건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기존 시험·사후 진단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KISA 외부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양성만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22건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외부 사례 탐지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정상 후보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개발용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250건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경보 증가 점검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JEV 대체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오류 과대표집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88건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바꿨을 때 득실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238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JEV 결합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검증자료 나눔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142건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추가 효과 탐색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DCE2-DE68-4657-8722-CAD895F4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대표 18건은 고유 22건의 부분집합이라 합산하지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27931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F2F49-2794-489B-A6D9-9F23C47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03  /  분석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6141D-EC34-4A96-A537-51EE1AA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데이터와 임계값을 먼저 고정했습니다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AD5DB-0CA6-4922-9F20-2A2DFF8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02CC3-6AEA-45A4-9C45-B08962A6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7D32-5061-4B41-849E-852880B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URL은 오프라인 문자열로만 분석하고 외부에 접속하지 않았다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완전 중복 제거 후 유사 문장을 같은 그룹으로 관리했다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임계값은 평가 전에 정하고 5개 시드별 값을 모든 입력 조건에 동일하게 적용했다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입력 개입은 사후 진단으로 구분하고 최종 모델의 임계값을 유지했다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3A039-481E-48C8-91D5-E48521F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시드: 42, 101, 202, 303, 404. 같은 문자의 반복 판정을 새 문자로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34086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36307-4360-4844-8303-10AC2D1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04  /  실험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05656-2666-46F3-B60A-CE88BA9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세 조건을 같은 방식으로 비교했습니다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3CB62-FDC6-4BA5-A9B1-F788D363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2D89A-5AFF-4E1E-8359-4B783C5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667500"/>
                <a:gridCol w="2533650"/>
              </a:tblGrid>
              <a:tr h="571500"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학습 데이터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시드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원본 학습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선택 원문 추가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선택 문자 URL 편집문 추가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C63D0-036A-4DAB-B565-B8270EB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FLIP은 정답 라벨을 유지합니다. 라벨을 반전한 조건이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EDE6-4820-4CA6-A426-1B3EE7EE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FLIP은 URL 편집문을 추가하되 원래 정답을 그대로 둔다.</a:t>
            </a:r>
          </a:p>
        </p:txBody>
      </p:sp>
    </p:spTree>
    <p:extLst>
      <p:ext uri="{BB962C8B-B14F-4D97-AF65-F5344CB8AC3E}">
        <p14:creationId xmlns:p14="http://schemas.microsoft.com/office/powerpoint/2010/main" val="724417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B27EB-9A33-4287-9DC1-92B34A2D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05  /  사전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CDEA3-8BC0-4F84-B340-BEEB12DA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사전 SAS 분석은 U5와 별개 실행입니다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36A3F-DB92-4804-9594-0CD9897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0408F-6871-4731-B1B7-EBDB2F5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6667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286000"/>
              </a:tblGrid>
              <a:tr h="595313">
                <a:tc>
                  <a:txBody>
                    <a:bodyPr lIns="133350" tIns="85725" rIns="133350" bIns="85725"/>
                    <a:lstStyle/>
                    <a:p>
                      <a:r>
                        <a:rPr sz="21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모형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AUC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95313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문자 단독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0.9987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SAS OOF 메타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0.9988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95313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고정가중 결합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0.9950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5CBDE-8C99-4688-A9B2-A5F4B797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95550"/>
            <a:ext cx="3514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p = 0.7233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AC7AB-3038-4221-86AE-CF15834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09950"/>
            <a:ext cx="3514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문자 단독 − OOF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B229-E560-4587-8DF5-80B0038A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76675"/>
            <a:ext cx="3514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AUC 차이 -0.00006</a:t>
            </a:r>
          </a:p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[-0.00039, 0.00027]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98947-2D05-4846-835B-0347751F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차이가 검출되지 않았다는 결과이며 동등성 증명이 아니다. p값을 U5 결과에 적용하지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38983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8DA3-3AE7-42A2-A0F7-CF227CDD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06  /  U5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1BD8A-801F-4FB3-B7C9-C2CC300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DUP 평균이 가장 낮았으나 우월 확정은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58D81-75AC-4873-883C-42FF8596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C235A-A7E2-484F-8FD7-1DFA002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01F7-565C-4984-8BEA-544B9189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 2,317건 · 5개 시드 평균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76225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286000"/>
                <a:gridCol w="2286000"/>
                <a:gridCol w="2314575"/>
                <a:gridCol w="2314575"/>
              </a:tblGrid>
              <a:tr h="619125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평균 오탐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평균 미탐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평균 탐지율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평균 오탐률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10.0건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14.2건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97.82%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7.4건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13.8건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97.88%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0.44%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</a:tr>
              <a:tr h="619125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7.6건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16.0건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97.55%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0.46%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99768-0F71-4BC0-9CE4-B5D1E8A2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같은 평가 문자를 5개 시드로 반복 평가했다. 평균 비교이며 통계적 우월 판정이 아니다.</a:t>
            </a:r>
          </a:p>
        </p:txBody>
      </p:sp>
    </p:spTree>
    <p:extLst>
      <p:ext uri="{BB962C8B-B14F-4D97-AF65-F5344CB8AC3E}">
        <p14:creationId xmlns:p14="http://schemas.microsoft.com/office/powerpoint/2010/main" val="937384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0278D-0EAB-41B9-8DDA-A3CABF2A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07  /  하위집단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4C770-5ABA-47AC-9C8C-34CAEB45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URL이 있는 정상 문자에서 오탐률이 높았습니다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9279F-AB13-44FD-9709-ECB98517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03DB2-E511-4D08-991C-9DCAA021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CB9C6-E9F6-46B3-B737-9B70E9D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정상 문자의 평균 오탐률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AED26-F0DA-4C6D-AA2D-26342D1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URL 없음 1,367건 / 있음 298건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3067050"/>
          <a:ext xmlns:a="http://schemas.openxmlformats.org/drawingml/2006/main" cx="6667500" cy="2628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e9363dea2f4da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824C4-7472-4BB5-B313-FD60567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같은 분모가 아님에 주의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CAB25-3C36-462F-9A39-2911AED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두 집단의 분모가 다르다. 연관 관찰이며 URL 단일 원인으로 확정하지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17878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BE444-066C-4D90-907D-905A8918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08  /  길이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707C3-2B59-4957-8A5A-82DD8D3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긴 문자에 미탐이 집중됐습니다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FA9E4-5C3D-400A-BA75-177F1948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6F308-5C3A-431A-A1FD-D3722AF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94519-50E2-4D11-B75B-57E56BE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128토큰 기준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66675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1778f47e5b4a5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D8EC0-3A9A-49E8-A68F-A502779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초과 스미싱 57건</a:t>
            </a:r>
          </a:p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미탐률 16.84%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12017-03E1-47EB-A0A6-656BCD9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뒤쪽 절단만을 원인으로 확정할 수 없다. 문체·출처가 함께 몰려 있을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776132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97E3A-3FF9-4C29-BE4F-FCAD18F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09  /  KISA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94219-E76E-4174-A9D3-6B131B8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외부 22건 중 13건을 탐지했습니다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B0F07-50F1-499E-A13E-9CC691FC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1B701-29F1-47EA-BB11-7AF72F2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8572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</a:tblGrid>
              <a:tr h="698500"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집합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탐지 / 미탐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탐지율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985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고유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 / 9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대표(부분집합)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 / 9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50.00%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A1B33-BC5C-4C1B-90A9-C42FA6DC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기준 시드 42 · 정상 문자 없음 · 오탐률 계산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884EF-0B2E-4464-939B-B716D26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소표본 결과이며 전체 환경 탐지율로 일반화하지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84951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F37B9-842F-4AC9-9E85-653A78B5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10  /  입력 7조건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B93B7-DC52-49DB-B027-7077CD9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탐지와 정상 경보를 함께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3002B-4BC6-433E-8E55-96A59C0B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5D0E0-775B-475E-B4A9-2939EB53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466E9-20B7-4A32-AC52-03B6C2B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시드 42 · KISA 고유 22건 · 개발 정상 후보 250건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2479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619250"/>
                <a:gridCol w="1619250"/>
                <a:gridCol w="1905000"/>
                <a:gridCol w="2057400"/>
              </a:tblGrid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입력 처리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탐지/미탐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탐지율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정상 경보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새 경보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기존 128토큰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13/9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잡음 삭제＋128토큰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13/9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읽는 범위 300토큰 확대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13/9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잡음 삭제＋300토큰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14/8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63.64%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잡음 가림＋128토큰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13/9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11건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잡음 가림＋300토큰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16/6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72.73%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452438"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앞부분·뒷부분 합성 128토큰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13/9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59.09%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17건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6건</a:t>
                      </a:r>
                    </a:p>
                  </a:txBody>
                  <a:tcPr marL="133350" marR="133350" marT="38100" marB="3810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A074A-C19B-4CDC-A6CD-E31767A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일부 복구는 탐색적 관찰이다. 사후 승자 교체를 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8612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F0E3B-8A87-4C3B-9F78-CD652560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11  /  JEV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1905-995A-475D-91CF-F86CB71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두 JEV 실험은 서로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5A33F-5557-404E-ABC1-0158ACD0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38CC5-F0FD-4662-B94C-02B38C57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FB4A-D9B9-41D9-B48D-3A16D13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자동 대체 · 선택 88건 / 시드 42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4572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</a:tblGrid>
              <a:tr h="714375">
                <a:tc>
                  <a:txBody>
                    <a:bodyPr lIns="133350" tIns="85725" rIns="133350" bIns="85725"/>
                    <a:lstStyle/>
                    <a:p>
                      <a:r>
                        <a:rPr sz="17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결과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7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건수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714375">
                <a:tc>
                  <a:txBody>
                    <a:bodyPr lIns="133350" tIns="85725" rIns="133350" bIns="85725"/>
                    <a:lstStyle/>
                    <a:p>
                      <a:r>
                        <a:rPr sz="17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기존 오탐 해소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7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33350" tIns="85725" rIns="133350" bIns="85725"/>
                    <a:lstStyle/>
                    <a:p>
                      <a:r>
                        <a:rPr sz="17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새 미탐 발생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7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41건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</a:tr>
              <a:tr h="714375">
                <a:tc>
                  <a:txBody>
                    <a:bodyPr lIns="133350" tIns="85725" rIns="133350" bIns="85725"/>
                    <a:lstStyle/>
                    <a:p>
                      <a:r>
                        <a:rPr sz="17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정답→보류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7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451AB-3514-4124-9EFA-AE485722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특징 결합 · 재사용 142건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810250" y="2667000"/>
          <a:ext xmlns:a="http://schemas.openxmlformats.org/drawingml/2006/main" cx="4572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238250"/>
                <a:gridCol w="1238250"/>
              </a:tblGrid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결합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오탐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미탐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기준선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점수 재결합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＋JEV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＋URL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476250"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＋JEV＋URL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47625" rIns="133350" bIns="47625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0건</a:t>
                      </a:r>
                    </a:p>
                  </a:txBody>
                  <a:tcPr marL="133350" marR="133350" marT="47625" marB="476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BB08-C2DE-4227-B8BD-BA6753F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대체 실험은 미채택. 결합 실험은 기준선 무오류라 이득 입증 여지가 없었다.</a:t>
            </a:r>
          </a:p>
        </p:txBody>
      </p:sp>
    </p:spTree>
    <p:extLst>
      <p:ext uri="{BB962C8B-B14F-4D97-AF65-F5344CB8AC3E}">
        <p14:creationId xmlns:p14="http://schemas.microsoft.com/office/powerpoint/2010/main" val="10680396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FF472-C436-43FF-AFF7-08026B8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12  /  연구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3DED-B399-4C5C-B2B6-B622C04D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기존 조건과 고정 임계값을 유지합니다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653D4-FD28-4E2F-8F7C-AE5FB96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BC85C-ACAB-4D6B-AE69-95D87B7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417BE-6549-4094-A6B0-73614AD6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original128과 시드별 고정 임계값을 그대로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8702-BE86-4C44-94EC-0771F4C6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사전 후보 head_tail128은 5개 시드 모두 미탐 복구 없이 새 경보 발생으로 불통과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관측 후 가장 좋아 보이는 조건으로 승자를 바꾸지 않는다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개선 효과의 신규 독립 시험으로 표현하지 않는다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EBADD-AB78-4B03-9137-1359A8CD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채택하지 않을 방법을 가려낸 검증 과정이 이번 판단의 내용이다.</a:t>
            </a:r>
          </a:p>
        </p:txBody>
      </p:sp>
    </p:spTree>
    <p:extLst>
      <p:ext uri="{BB962C8B-B14F-4D97-AF65-F5344CB8AC3E}">
        <p14:creationId xmlns:p14="http://schemas.microsoft.com/office/powerpoint/2010/main" val="8734988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E5CB1-4D35-4685-9232-6D29D59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13  /  SAS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F3683-0EBC-4896-B9B4-7F3792E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SAS 반환은 검증했고 새 그림은 실행 대기 중입니다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EE5C9-6B93-4EE1-B52D-2CFDFD2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6A94-57D9-4678-BF63-373F90D7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5867A-248E-48DC-8036-B00CE69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집계 반환 4단계 완료 · ZIP 55개 무결성 · 그래프 35개 검수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SAS 계산·반환 검증 통과와 탐지 성능 개선은 다른 판단이다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새 SAS Studio 발표용 그림과 Visual Analytics 대시보드는 사용자 서버 실행 대기 중이며 실제 가동을 주장하지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0D04B-DAAE-4DFA-BB8D-C1F821A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Studio 보고서 생성 → CAS 집계 검산·게시 → VA 보고서 구성·저장</a:t>
            </a:r>
          </a:p>
        </p:txBody>
      </p:sp>
    </p:spTree>
    <p:extLst>
      <p:ext uri="{BB962C8B-B14F-4D97-AF65-F5344CB8AC3E}">
        <p14:creationId xmlns:p14="http://schemas.microsoft.com/office/powerpoint/2010/main" val="1354257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8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8EE46-3A07-4647-A970-F9EE2BA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14  / 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DD393-1689-42CE-91D8-D0E6011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E4475-BD24-4598-A160-9809E5C3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1B083-33F0-4C42-A306-1113E78E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오류가 모이는 조건과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시도한 수정의 득실을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가려냈습니다.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87A1C-67E5-4A4F-86A5-0DC5EC7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8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64B09-A61D-4A32-98CC-30E9B1A6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77936-CC12-480D-BF76-F2BE60C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62475"/>
            <a:ext cx="848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원인 단일 확정 아님 · 실서비스 안전성 입증 아님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4734-3C77-4FB4-AF25-F2ED2C2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다음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87A98-00E5-4A39-91EB-113EDDC3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53050"/>
            <a:ext cx="8486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새 독립 자료에서 사전 고정한 비교</a:t>
            </a:r>
          </a:p>
        </p:txBody>
      </p:sp>
    </p:spTree>
    <p:extLst>
      <p:ext uri="{BB962C8B-B14F-4D97-AF65-F5344CB8AC3E}">
        <p14:creationId xmlns:p14="http://schemas.microsoft.com/office/powerpoint/2010/main" val="1589471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668C5-AC44-4333-A40B-47F9441A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A  /  조건 상세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6944F-19E3-4E96-8E44-36900332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입력 조건 상세와 시드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A094D-ADAA-442A-A749-19B7C98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BBDF0-C2D7-411A-8A18-B31FF515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4D2D2-C4BC-430C-836C-E12B346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화면 잡음 삭제: 상태바·작성창 구간 제거. 뒤쪽 토큰 위치가 바뀔 수 있다. 배포용 자동 정제 규칙이 아니다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화면 잡음 가림: 위치·길이 유지 [UNK] 치환. 자연 정제문과 다르다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300토큰 확대: 128토큰 학습 모형의 읽기 범위 실험. 새로 학습한 모형 검증이 아니다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앞뒤 합성은 기존 진단 규칙 그대로. 짧은 입력은 원래 입력과 동일하다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KISA 진단은 동일 자료 재사용 사후 진단. 기준 시드 외 개선 폭이 일정하지 않다</a:t>
            </a:r>
          </a:p>
        </p:txBody>
      </p:sp>
    </p:spTree>
    <p:extLst>
      <p:ext uri="{BB962C8B-B14F-4D97-AF65-F5344CB8AC3E}">
        <p14:creationId xmlns:p14="http://schemas.microsoft.com/office/powerpoint/2010/main" val="2600195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CE837-11AC-4C85-967A-631C8DAB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B  /  해석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ADF9F-89B6-4F7D-8763-3505A04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지표와 자료의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97D0C-00C9-44C6-963C-6AB76625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DE2E-FBA9-4E3E-897A-9A23CCE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479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항목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상태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탐지율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스미싱 중 탐지 비율. 전체 정확도와 다름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오탐률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정상 문자 분모. KISA 양성만으로 계산 불가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5시드 평균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문자 반복 판정. 고유 문자 수로 읽지 않음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정상 후보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개발용. 독립 오탐률·인증 정상 아님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87375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대표 집합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고유 집합 부분집합. 합산 금지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92759-3459-4FC2-A7B2-14973B3D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자료를 반복 조회해 맞춘 결과를 독립 개선 성과로 제시하지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084860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06794-B8D9-49FC-A621-F3B1B38F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C  /  질의응답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5A9D0-6983-4A46-BCE9-941ADD88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증거와 재생성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C26C-4E81-46A4-8C65-83F14D2B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65C8A-3F8B-409E-80D7-0E261A3B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B09D0-C737-409F-AFAA-3B13F9A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정본 JSON에서 다시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87CEF-2750-47B7-8CD6-FB910A88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reports/generated/submission_final_20260921.json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5B611-87A3-474E-B075-2D80B1B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BFB91-A08A-438C-8DAB-71C01CFE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증거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44CF1-5620-48D7-828A-FA6E373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python3 scripts/build_submission_final_20260921.py --check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F4EE-FFA8-4216-88BE-14FB28BF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52A23-B8EA-4860-A006-0AB65C11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덱 검사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F9E52-8056-4CAB-95D7-2B18B0B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node scripts/build_submission_deck_final_20260921.mjs --check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58AA0-6397-41D8-BECD-3AC0EA5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D2FC0-A8D5-4ECF-83FE-32C5954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자료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FDEA8-3013-45BB-9DF9-B3F2AB98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62575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원문·행별 예측·개인 식별자·가중치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B828B-4E70-499E-A8AD-4F491D49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새 추론·API·학습·임계값 조정이 없다.</a:t>
            </a:r>
          </a:p>
        </p:txBody>
      </p:sp>
    </p:spTree>
    <p:extLst>
      <p:ext uri="{BB962C8B-B14F-4D97-AF65-F5344CB8AC3E}">
        <p14:creationId xmlns:p14="http://schemas.microsoft.com/office/powerpoint/2010/main" val="1557914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2026-09-21T08:43:51.1790000Z</dcterms:created>
  <dcterms:modified xsi:type="dcterms:W3CDTF">2026-09-21T08:43:51.1790000Z</dcterms:modified>
</coreProperties>
</file>